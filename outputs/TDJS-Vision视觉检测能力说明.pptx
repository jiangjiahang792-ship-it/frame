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14916336814453" /><Relationship Type="http://schemas.openxmlformats.org/officeDocument/2006/relationships/extended-properties" Target="/docProps/app.xml" Id="R03e083708b824a3b" /><Relationship Type="http://schemas.openxmlformats.org/officeDocument/2006/relationships/officeDocument" Target="/ppt/presentation.xml" Id="Ra45984496c9e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6213bc06a4ede"/>
  </p:sldMasterIdLst>
  <p:notesMasterIdLst>
    <p:notesMasterId xmlns:r="http://schemas.openxmlformats.org/officeDocument/2006/relationships" r:id="R44df111632f34dcc"/>
  </p:notesMasterIdLst>
  <p:sldIdLst>
    <p:sldId xmlns:r="http://schemas.openxmlformats.org/officeDocument/2006/relationships" id="256" r:id="R0e8e3e1b17424835"/>
    <p:sldId xmlns:r="http://schemas.openxmlformats.org/officeDocument/2006/relationships" id="257" r:id="R8bb999399c2549de"/>
    <p:sldId xmlns:r="http://schemas.openxmlformats.org/officeDocument/2006/relationships" id="258" r:id="R5bd453d2fa3b4ea2"/>
    <p:sldId xmlns:r="http://schemas.openxmlformats.org/officeDocument/2006/relationships" id="259" r:id="Rcee03ad8f44e4f77"/>
    <p:sldId xmlns:r="http://schemas.openxmlformats.org/officeDocument/2006/relationships" id="260" r:id="Rbc3019464909443a"/>
    <p:sldId xmlns:r="http://schemas.openxmlformats.org/officeDocument/2006/relationships" id="261" r:id="Re9e9dd80128b456c"/>
    <p:sldId xmlns:r="http://schemas.openxmlformats.org/officeDocument/2006/relationships" id="262" r:id="R479894c228fa4d47"/>
    <p:sldId xmlns:r="http://schemas.openxmlformats.org/officeDocument/2006/relationships" id="263" r:id="R1362a8d2b4ee4af0"/>
    <p:sldId xmlns:r="http://schemas.openxmlformats.org/officeDocument/2006/relationships" id="264" r:id="Re3403dc125a14c53"/>
    <p:sldId xmlns:r="http://schemas.openxmlformats.org/officeDocument/2006/relationships" id="265" r:id="R37ed77a0baaa4a85"/>
    <p:sldId xmlns:r="http://schemas.openxmlformats.org/officeDocument/2006/relationships" id="266" r:id="R9b18f514701f49be"/>
    <p:sldId xmlns:r="http://schemas.openxmlformats.org/officeDocument/2006/relationships" id="267" r:id="Rcbc25ee1625842c4"/>
    <p:sldId xmlns:r="http://schemas.openxmlformats.org/officeDocument/2006/relationships" id="268" r:id="R86cd197238644c1b"/>
    <p:sldId xmlns:r="http://schemas.openxmlformats.org/officeDocument/2006/relationships" id="269" r:id="R86a3867ae25e4015"/>
    <p:sldId xmlns:r="http://schemas.openxmlformats.org/officeDocument/2006/relationships" id="270" r:id="R4b88a70382194e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b83486b3964c5d" /><Relationship Type="http://schemas.openxmlformats.org/officeDocument/2006/relationships/slideMaster" Target="/ppt/slideMasters/slideMaster1.xml" Id="Rc8f6213bc06a4ede" /><Relationship Type="http://schemas.openxmlformats.org/officeDocument/2006/relationships/notesMaster" Target="/ppt/notesMasters/notesMaster1.xml" Id="R44df111632f34dcc" /><Relationship Type="http://schemas.openxmlformats.org/officeDocument/2006/relationships/presProps" Target="/ppt/presProps.xml" Id="Ra9160e82cc794640" /><Relationship Type="http://schemas.openxmlformats.org/officeDocument/2006/relationships/tableStyles" Target="/ppt/tableStyles.xml" Id="R82bb68d774f54a6b" /><Relationship Type="http://schemas.openxmlformats.org/officeDocument/2006/relationships/slide" Target="/ppt/slides/slide1.xml" Id="R0e8e3e1b17424835" /><Relationship Type="http://schemas.openxmlformats.org/officeDocument/2006/relationships/slide" Target="/ppt/slides/slide2.xml" Id="R8bb999399c2549de" /><Relationship Type="http://schemas.openxmlformats.org/officeDocument/2006/relationships/slide" Target="/ppt/slides/slide3.xml" Id="R5bd453d2fa3b4ea2" /><Relationship Type="http://schemas.openxmlformats.org/officeDocument/2006/relationships/slide" Target="/ppt/slides/slide4.xml" Id="Rcee03ad8f44e4f77" /><Relationship Type="http://schemas.openxmlformats.org/officeDocument/2006/relationships/slide" Target="/ppt/slides/slide5.xml" Id="Rbc3019464909443a" /><Relationship Type="http://schemas.openxmlformats.org/officeDocument/2006/relationships/slide" Target="/ppt/slides/slide6.xml" Id="Re9e9dd80128b456c" /><Relationship Type="http://schemas.openxmlformats.org/officeDocument/2006/relationships/slide" Target="/ppt/slides/slide7.xml" Id="R479894c228fa4d47" /><Relationship Type="http://schemas.openxmlformats.org/officeDocument/2006/relationships/slide" Target="/ppt/slides/slide8.xml" Id="R1362a8d2b4ee4af0" /><Relationship Type="http://schemas.openxmlformats.org/officeDocument/2006/relationships/slide" Target="/ppt/slides/slide9.xml" Id="Re3403dc125a14c53" /><Relationship Type="http://schemas.openxmlformats.org/officeDocument/2006/relationships/slide" Target="/ppt/slides/slide10.xml" Id="R37ed77a0baaa4a85" /><Relationship Type="http://schemas.openxmlformats.org/officeDocument/2006/relationships/slide" Target="/ppt/slides/slide11.xml" Id="R9b18f514701f49be" /><Relationship Type="http://schemas.openxmlformats.org/officeDocument/2006/relationships/slide" Target="/ppt/slides/slide12.xml" Id="Rcbc25ee1625842c4" /><Relationship Type="http://schemas.openxmlformats.org/officeDocument/2006/relationships/slide" Target="/ppt/slides/slide13.xml" Id="R86cd197238644c1b" /><Relationship Type="http://schemas.openxmlformats.org/officeDocument/2006/relationships/slide" Target="/ppt/slides/slide14.xml" Id="R86a3867ae25e4015" /><Relationship Type="http://schemas.openxmlformats.org/officeDocument/2006/relationships/slide" Target="/ppt/slides/slide15.xml" Id="R4b88a7038219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84f5081e824c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c3098f3114682" /><Relationship Type="http://schemas.openxmlformats.org/officeDocument/2006/relationships/notesMaster" Target="/ppt/notesMasters/notesMaster1.xml" Id="R376afe10f31e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c3bf0127ba4416" /><Relationship Type="http://schemas.openxmlformats.org/officeDocument/2006/relationships/notesMaster" Target="/ppt/notesMasters/notesMaster1.xml" Id="Re68fe01af0d7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4b95555e64018" /><Relationship Type="http://schemas.openxmlformats.org/officeDocument/2006/relationships/notesMaster" Target="/ppt/notesMasters/notesMaster1.xml" Id="R071a2c8c355946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b74680e12d4560" /><Relationship Type="http://schemas.openxmlformats.org/officeDocument/2006/relationships/notesMaster" Target="/ppt/notesMasters/notesMaster1.xml" Id="R95f09326b328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448345c82a4425" /><Relationship Type="http://schemas.openxmlformats.org/officeDocument/2006/relationships/notesMaster" Target="/ppt/notesMasters/notesMaster1.xml" Id="Rf378c50c53a4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d869cffea4254" /><Relationship Type="http://schemas.openxmlformats.org/officeDocument/2006/relationships/notesMaster" Target="/ppt/notesMasters/notesMaster1.xml" Id="R3bb084b691804b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7cb0f0a5654f8a" /><Relationship Type="http://schemas.openxmlformats.org/officeDocument/2006/relationships/notesMaster" Target="/ppt/notesMasters/notesMaster1.xml" Id="Rad0239b14a13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dd5ba87b194eb6" /><Relationship Type="http://schemas.openxmlformats.org/officeDocument/2006/relationships/notesMaster" Target="/ppt/notesMasters/notesMaster1.xml" Id="R5f745acd5db540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b4c337e95e424f" /><Relationship Type="http://schemas.openxmlformats.org/officeDocument/2006/relationships/notesMaster" Target="/ppt/notesMasters/notesMaster1.xml" Id="Rbcac838b19c04f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d63c529ea4401" /><Relationship Type="http://schemas.openxmlformats.org/officeDocument/2006/relationships/notesMaster" Target="/ppt/notesMasters/notesMaster1.xml" Id="Ra067e2050b3548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ffb5d701ea404e" /><Relationship Type="http://schemas.openxmlformats.org/officeDocument/2006/relationships/notesMaster" Target="/ppt/notesMasters/notesMaster1.xml" Id="R3fd3a763a0064b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585e36d01242ab" /><Relationship Type="http://schemas.openxmlformats.org/officeDocument/2006/relationships/notesMaster" Target="/ppt/notesMasters/notesMaster1.xml" Id="R115635a443b147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8b8626fd3e48cb" /><Relationship Type="http://schemas.openxmlformats.org/officeDocument/2006/relationships/notesMaster" Target="/ppt/notesMasters/notesMaster1.xml" Id="R0cc51d4d1ed349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9aa7af530848a5" /><Relationship Type="http://schemas.openxmlformats.org/officeDocument/2006/relationships/notesMaster" Target="/ppt/notesMasters/notesMaster1.xml" Id="Rd28298f9a36b47a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651b5edce849af" /><Relationship Type="http://schemas.openxmlformats.org/officeDocument/2006/relationships/notesMaster" Target="/ppt/notesMasters/notesMaster1.xml" Id="R8b9bf15d7b5940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bab4fbb48e40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eea14ce9324b68" /><Relationship Type="http://schemas.openxmlformats.org/officeDocument/2006/relationships/slideLayout" Target="/ppt/slideLayouts/slideLayout1.xml" Id="R3c699dcca2e5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99dcca2e5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d5b1252e4be4" /><Relationship Type="http://schemas.openxmlformats.org/officeDocument/2006/relationships/image" Target="/ppt/media/image.png" Id="R69add7c17d964f65" /><Relationship Type="http://schemas.openxmlformats.org/officeDocument/2006/relationships/image" Target="/ppt/media/image2.png" Id="R465461385dac44e5" /><Relationship Type="http://schemas.openxmlformats.org/officeDocument/2006/relationships/notesSlide" Target="/ppt/notesSlides/notesSlide1.xml" Id="R2cd515c0f287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b70509a894601" /><Relationship Type="http://schemas.openxmlformats.org/officeDocument/2006/relationships/notesSlide" Target="/ppt/notesSlides/notesSlide2.xml" Id="R4d280f4685254a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da2d2955f4754" /><Relationship Type="http://schemas.openxmlformats.org/officeDocument/2006/relationships/image" Target="/ppt/media/image3.png" Id="R52868288a725423c" /><Relationship Type="http://schemas.openxmlformats.org/officeDocument/2006/relationships/notesSlide" Target="/ppt/notesSlides/notesSlide3.xml" Id="R8b0a0913a439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f404ad8b347be" /><Relationship Type="http://schemas.openxmlformats.org/officeDocument/2006/relationships/image" Target="/ppt/media/image4.png" Id="R2334d298ad2a4a1c" /><Relationship Type="http://schemas.openxmlformats.org/officeDocument/2006/relationships/image" Target="/ppt/media/image5.png" Id="Rf94b325987b44a40" /><Relationship Type="http://schemas.openxmlformats.org/officeDocument/2006/relationships/notesSlide" Target="/ppt/notesSlides/notesSlide4.xml" Id="R5a31838d767748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9017e85a24f00" /><Relationship Type="http://schemas.openxmlformats.org/officeDocument/2006/relationships/image" Target="/ppt/media/image6.png" Id="Rbf6d1a03de754fc5" /><Relationship Type="http://schemas.openxmlformats.org/officeDocument/2006/relationships/notesSlide" Target="/ppt/notesSlides/notesSlide5.xml" Id="R169040228d5a41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3cb00b2864897" /><Relationship Type="http://schemas.openxmlformats.org/officeDocument/2006/relationships/image" Target="/ppt/media/image7.png" Id="R9b15ebb6913d4289" /><Relationship Type="http://schemas.openxmlformats.org/officeDocument/2006/relationships/image" Target="/ppt/media/image8.png" Id="R86da1f801967403c" /><Relationship Type="http://schemas.openxmlformats.org/officeDocument/2006/relationships/notesSlide" Target="/ppt/notesSlides/notesSlide6.xml" Id="R817e7883e0774e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94a4419894c94" /><Relationship Type="http://schemas.openxmlformats.org/officeDocument/2006/relationships/notesSlide" Target="/ppt/notesSlides/notesSlide7.xml" Id="Ra35825213d4745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f911243d64c95" /><Relationship Type="http://schemas.openxmlformats.org/officeDocument/2006/relationships/image" Target="/ppt/media/image9.png" Id="R1ecacbdde3964bf1" /><Relationship Type="http://schemas.openxmlformats.org/officeDocument/2006/relationships/image" Target="/ppt/media/image10.png" Id="Rf70d545406bc4ef1" /><Relationship Type="http://schemas.openxmlformats.org/officeDocument/2006/relationships/notesSlide" Target="/ppt/notesSlides/notesSlide8.xml" Id="Rdf7b1dba38354a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8f42f2a04496d" /><Relationship Type="http://schemas.openxmlformats.org/officeDocument/2006/relationships/image" Target="/ppt/media/image11.png" Id="Rd454a0c727a14b71" /><Relationship Type="http://schemas.openxmlformats.org/officeDocument/2006/relationships/notesSlide" Target="/ppt/notesSlides/notesSlide9.xml" Id="R2ab2b8b7fbc343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8ab7ca5f840a4" /><Relationship Type="http://schemas.openxmlformats.org/officeDocument/2006/relationships/notesSlide" Target="/ppt/notesSlides/notesSlide10.xml" Id="R7a8c245617484f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adba5a264820" /><Relationship Type="http://schemas.openxmlformats.org/officeDocument/2006/relationships/image" Target="/ppt/media/image12.png" Id="Rc025087872314525" /><Relationship Type="http://schemas.openxmlformats.org/officeDocument/2006/relationships/notesSlide" Target="/ppt/notesSlides/notesSlide11.xml" Id="R99efd24f372c42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6f33d91f40d7" /><Relationship Type="http://schemas.openxmlformats.org/officeDocument/2006/relationships/image" Target="/ppt/media/image13.png" Id="R60753cab3f834bac" /><Relationship Type="http://schemas.openxmlformats.org/officeDocument/2006/relationships/notesSlide" Target="/ppt/notesSlides/notesSlide12.xml" Id="Rf7ebe72342aa4f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76b443c3345d4" /><Relationship Type="http://schemas.openxmlformats.org/officeDocument/2006/relationships/notesSlide" Target="/ppt/notesSlides/notesSlide13.xml" Id="R1fb71348c75f40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27555d9d84b57" /><Relationship Type="http://schemas.openxmlformats.org/officeDocument/2006/relationships/image" Target="/ppt/media/image14.png" Id="Re359d6e962e244cb" /><Relationship Type="http://schemas.openxmlformats.org/officeDocument/2006/relationships/notesSlide" Target="/ppt/notesSlides/notesSlide14.xml" Id="R45cef50ba35946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ce2a3ad4b4623" /><Relationship Type="http://schemas.openxmlformats.org/officeDocument/2006/relationships/notesSlide" Target="/ppt/notesSlides/notesSlide15.xml" Id="Rd7ae5c4b72e948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0530C-EBFC-4E62-969C-26D27C77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C6EC3-AA2F-408B-ADFA-F90C2FB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视觉检测能力说明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0E395-E30B-42F7-998F-C28D5EA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 · 定位 · 缺陷检测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7069D-F181-4124-B36F-626FFCC9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/ 大模型 / 无监督 / 运行参数调优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D84DC-CCAE-4394-BF82-CF52CEE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1C63C-FCB9-47DD-8514-B479372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一套可编排的平台，覆盖从采图、算法判定到结果输出的完整链路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41431-394A-4D0A-987C-D0671252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197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08575-9009-4CC2-B965-C4F46F86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912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软件当前界面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dd7c17d964f65"/>
          <a:stretch xmlns:a="http://schemas.openxmlformats.org/drawingml/2006/main"/>
        </p:blipFill>
        <p:spPr>
          <a:xfrm xmlns:a="http://schemas.openxmlformats.org/drawingml/2006/main">
            <a:off x="5162550" y="342900"/>
            <a:ext cx="685800" cy="6858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461385dac44e5"/>
          <a:stretch xmlns:a="http://schemas.openxmlformats.org/drawingml/2006/main"/>
        </p:blipFill>
        <p:spPr>
          <a:xfrm xmlns:a="http://schemas.openxmlformats.org/drawingml/2006/main">
            <a:off x="6343650" y="1837739"/>
            <a:ext cx="5314950" cy="28396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47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07926-BB02-4D92-BE52-09861096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7648E-AB87-43FB-8146-BB91617E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软件当前覆盖三类核心视觉任务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D945A-61DB-43CA-9FBD-886CB442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FEB8B-1AC1-4DFC-91F6-7BA56FD4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5F6E-C085-4796-9540-A5218228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8F14B-43FD-42FA-B3EB-C923C14E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BC848-52D1-46F4-A5A9-5F43180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F0A93-C988-48CE-8606-F98AA744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A9EF0-B81E-479A-8D65-077A1F7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79EAA-BF82-4C50-91CD-68980D4E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把图像中的几何关系转成可判定的数值：距离、角度、直径、椭圆、位置偏差与轮廓特征。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FE927-24B2-4489-BCBC-3D565517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点到点｜点到线｜点到区域｜线到线夹角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2B91E-597D-4C2E-A89F-047659C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3CB2C-B382-49C4-861B-15D876E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C48C4-28CB-419C-B4FF-CDFF6787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通过模板、边缘、点线圆特征获得目标位置与方向，为后续测量、裁剪或机构引导提供基准。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080BD-F92A-430D-B808-B2AE2109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模板匹配｜找点｜找线｜找圆｜位置修正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75D73-8BBF-4010-B8C2-BF9B4CE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6836C-1D57-4C6A-A1C6-5495CC0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52236-4025-4734-9B0C-75729E07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针对结构、外观和装配异常，可组合传统视觉、YOLO、无监督和大模型方法进行检测。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48CAA-FFC4-45A0-8748-80C34F5E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缺料｜异物｜偏位｜破损｜表面异常</a:t>
            </a:r>
          </a:p>
        </p:txBody>
      </p:sp>
    </p:spTree>
    <p:extLst>
      <p:ext uri="{BB962C8B-B14F-4D97-AF65-F5344CB8AC3E}">
        <p14:creationId xmlns:p14="http://schemas.microsoft.com/office/powerpoint/2010/main" val="1205906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46EB4-B602-4C23-9458-2AEF069A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E4D7-8554-4C5E-AB63-5CA6C4C4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检测不是单个算法，而是一条可编排的闭环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FB8AF-9E54-4AC7-981D-245258A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0E37B-719B-4A62-88BF-A5831C9D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7D056-A4B1-4E4B-AE96-3C7BA091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86EBF-24FF-4CEF-A510-92929A5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47C8E-2C9F-48A3-881D-4D6BB3E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真实流程画布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F6AA6-4BC0-473A-9DEF-CC83A469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采图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17D19-68F3-4EDC-A620-4328BAED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3645A-B34B-4186-BB2B-4A3DE71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01093-8E43-4772-86E8-4D955B35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BF2C2-3AFC-48C2-9235-85738B1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 / 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7276B-2BCD-4DB3-9AF6-0D18CBDF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9E22F-2FAC-4CF7-80B7-5ADF0F95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上下限判定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44EA3-FA8E-4792-A904-164938A5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EA7B2-C676-429F-8916-1AD765C0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显示 / 保存 / 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BCCD5-973B-49F0-A7E2-70FCF7F8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D89EE-D417-439E-A9BE-47DC49FC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62625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84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结果可输出至 PLC、Modbus、TCP、串口或 Excel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68288a725423c"/>
          <a:stretch xmlns:a="http://schemas.openxmlformats.org/drawingml/2006/main"/>
        </p:blipFill>
        <p:spPr>
          <a:xfrm xmlns:a="http://schemas.openxmlformats.org/drawingml/2006/main">
            <a:off x="561585" y="1676400"/>
            <a:ext cx="6915930" cy="3695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88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90A9A-23C1-4508-A073-283A53EE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50EC0-3C77-48F9-ADC3-50ADA6A3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测量能力从特征提取延伸到几何关系计算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C11FA-1B45-4220-A6BB-D482F12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7AAAF-12E6-409B-866D-DA17E69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F0984-BBD2-4681-9E55-C64311C6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64D4F-686E-4343-AC65-89E4267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可提取的基础特征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F4547-909F-4013-9240-B417344C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333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卡尺找线、卡尺找圆、卡尺找椭圆、找点、直线检测、圆检测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25290-B7D7-4130-B9CF-AFA43100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可计算的几何关系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0303C-1FF8-48E7-AD92-F054DCBE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048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点到点距离
点到线距离
点到区域距离
线到线夹角
线组合拟合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2B7D7-28CE-4960-BFF8-242E1E3D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61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C206D-6E4E-4BE9-81CA-CFCEC6D5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2CDCE-3898-4056-9188-6E11EFF2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054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点到点距离配置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66785-BBBE-49DB-947A-5A83B715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054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点到线距离配置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4d298ad2a4a1c"/>
          <a:stretch xmlns:a="http://schemas.openxmlformats.org/drawingml/2006/main"/>
        </p:blipFill>
        <p:spPr>
          <a:xfrm xmlns:a="http://schemas.openxmlformats.org/drawingml/2006/main">
            <a:off x="4267200" y="2200854"/>
            <a:ext cx="3314700" cy="2551541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b325987b44a40"/>
          <a:stretch xmlns:a="http://schemas.openxmlformats.org/drawingml/2006/main"/>
        </p:blipFill>
        <p:spPr>
          <a:xfrm xmlns:a="http://schemas.openxmlformats.org/drawingml/2006/main">
            <a:off x="8134350" y="2200854"/>
            <a:ext cx="3314700" cy="25515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493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000DD-B42D-408D-A342-B066070B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AF788-0F6A-46E7-8C87-8E9858DC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稳定测量依赖正确的 ROI、边缘与公差定义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7C662-761C-47CD-B292-4DF34CD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7EEFF-1037-4F40-BFF7-5ABA20F0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833BE-FF41-4588-BCD5-C9BC930B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BC40-B2C9-480E-B905-F4AD19D0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239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781C8-797B-4AAB-A527-49A4902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D834C-B87B-4FCB-A610-C14B24F9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先锁定区域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1AC7F-1B0A-443E-B0FC-A24A15C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476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让算法只关注稳定的目标范围，减少背景干扰。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07B64-133C-4555-9E18-FC0A081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CE1A4-9B14-4AAF-87A2-2E53A6F6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再提取边缘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7243C-9558-4D7F-8E17-580BE306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通过阈值、极性、卡尺或轮廓规则得到可重复的几何特征。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2B996-6A52-4884-9491-77CD61DB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71021-0701-4A90-B475-5CD8CAC5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006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最后做判定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05D6E-5AC2-491F-9713-1D88B07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47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把测量值与运行参数上下限比较，输出 OK / NG。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d1a03de754fc5"/>
          <a:stretch xmlns:a="http://schemas.openxmlformats.org/drawingml/2006/main"/>
        </p:blipFill>
        <p:spPr>
          <a:xfrm xmlns:a="http://schemas.openxmlformats.org/drawingml/2006/main">
            <a:off x="1458744" y="1676400"/>
            <a:ext cx="5121613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1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8E39D-E08D-44C9-9A97-9E9F2848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F550-A24B-4ECD-9E2D-AB229BDA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定位先建立基准，再把后续检测放回正确坐标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C79F5-F503-46FE-BFCA-D45249B2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15FAB-F47F-4C11-A8AC-943E1859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4EC3E-98D3-40F8-8B60-1459320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F22C7-00A2-44E6-8022-E7333326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模板匹配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24078-6E1D-4D8B-9203-CEEE0C0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048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在旋转、平移或局部变化下寻找目标，输出中心、角度与匹配得分。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363FC-5584-4FDD-828C-7DFBBEEF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CA795-4A73-4178-8927-80B738E6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位置修正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229FD-F9A5-4DA5-90F5-ED7BF869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14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 X、Y、角度偏差转换为统一参考系，使后续 ROI、测量和缺陷检测跟随工件。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C6BC1-DB1E-496A-800D-DD336DCA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8A4E8-31AE-4374-8BC6-FE78CED0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寻找目标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784AC-4982-44D1-B918-F4CD86F3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12A20-5438-472E-AF2C-1AA836F5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计算偏移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1185F-6B6B-43D3-852A-E6067CC5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FE80A-0DBB-40C5-849B-8E991BD9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修正坐标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41FE1-594F-4584-9185-FF582E22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0F60B-02FF-43A1-913F-F1E1ADF1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102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执行后续检测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5ebb6913d4289"/>
          <a:stretch xmlns:a="http://schemas.openxmlformats.org/drawingml/2006/main"/>
        </p:blipFill>
        <p:spPr>
          <a:xfrm xmlns:a="http://schemas.openxmlformats.org/drawingml/2006/main">
            <a:off x="1291696" y="3048000"/>
            <a:ext cx="3360208" cy="24193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a1f801967403c"/>
          <a:stretch xmlns:a="http://schemas.openxmlformats.org/drawingml/2006/main"/>
        </p:blipFill>
        <p:spPr>
          <a:xfrm xmlns:a="http://schemas.openxmlformats.org/drawingml/2006/main">
            <a:off x="7378407" y="3048000"/>
            <a:ext cx="2769186" cy="2419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20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692625-E7C3-41E1-BCC7-6E32999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3454A-C3F2-47F7-86E1-6FA24532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缺陷检测可按问题特征选择四条技术路线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0B993-7996-408A-8B25-6B134D6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56E15-3683-42EA-9689-0E54963F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663EF-2706-4180-A829-184464FF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7D02D-6AC3-4680-876A-9E0D5BE4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CB87-38CA-4554-9C3C-22563B65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DF6BF-EC92-4096-BFF3-036DEB39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典型任务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DC26B-82B4-4925-9573-74D18548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B7F87-D646-4311-A0BD-F4645B82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传统视觉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A5536-A51F-4089-8C68-150B909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288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规则清晰、边缘稳定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3AA83-E919-4AF3-8842-675CA9D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尺寸超差、缺口、颜色、数量、轮廓异常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AE925-1E0A-4646-8584-E6DCDF62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A"/>
          </a:solidFill>
          <a:ln xmlns:a="http://schemas.openxmlformats.org/drawingml/2006/main" w="0">
            <a:solidFill>
              <a:srgbClr val="E2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BFD96-284E-42E0-8885-03FE21B9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18DF7-C1F6-4D19-B8CE-EDFACD6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缺陷类别明确且有标注样本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F52B8-AC6D-4626-ADD2-714B5DAD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缺料、异物、破损、装配错误、目标分类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68F03-CCEB-4222-AF47-D19ACB70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FF"/>
          </a:solidFill>
          <a:ln xmlns:a="http://schemas.openxmlformats.org/drawingml/2006/main" w="0">
            <a:solidFill>
              <a:srgbClr val="F3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4A126-B296-4CE1-AF69-8C4EB790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1FC00-FFCE-4B33-8EF6-19B410D7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100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异常样本少、正常样本易收集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E2BC9F-7C26-4E77-8F5F-CD0A56F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表面异常、纹理变化、未知缺陷筛查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1B77-682F-4E31-A8A6-823D49C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C"/>
          </a:solidFill>
          <a:ln xmlns:a="http://schemas.openxmlformats.org/drawingml/2006/main" w="0">
            <a:solidFill>
              <a:srgbClr val="FFF1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3D004-5E34-4CC3-A132-302D2103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223D5-05C7-4721-BEC0-E60E2396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006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外观变化复杂，需要强特征表达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62D57-7D90-4B5E-9396-9E4A44AD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复杂纹理、细微外观差异、相似度异常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83E4B2-88B5-4868-AA56-719C0E80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选择原则：先用稳定规则解决确定问题，再用 AI 覆盖复杂变化。</a:t>
            </a:r>
          </a:p>
        </p:txBody>
      </p:sp>
    </p:spTree>
    <p:extLst>
      <p:ext uri="{BB962C8B-B14F-4D97-AF65-F5344CB8AC3E}">
        <p14:creationId xmlns:p14="http://schemas.microsoft.com/office/powerpoint/2010/main" val="18397436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ED248-05E6-4521-897E-0D328E9A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FDCD6-F3E2-4DA4-BB7C-F60E2BA6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规则稳定的缺陷，传统视觉往往更直接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49C19-CD6B-4DBD-A6B7-4F735E1D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860FB-EF6F-4626-A3E8-0AAEE275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B4C4F-9F67-40D8-B299-88D432A7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31D62-AA5C-4F94-845F-900B661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D2E82-FB7E-449B-ABD4-D175F536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76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直线检测
圆检测
模板匹配
二维码识别
颜色识别
二值化分析
电池极耳检测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C251E-AA2B-40C1-909F-45C7DBC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1D966-6D9B-4734-ABE1-4699DB6E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3048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可解释、参数明确、无需训练数据。
适合边界清楚且工况稳定的任务。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EC532-1D7D-4A8D-97AD-CC4EED6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3733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77606-AC8F-4DF0-9329-80F38AC3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3733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4C839-4753-4171-9C70-4E19E18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二值化分析与尺寸判定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29E4A-8F5E-4D90-9863-943B19D9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340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电池极耳专项检测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acbdde3964bf1"/>
          <a:stretch xmlns:a="http://schemas.openxmlformats.org/drawingml/2006/main"/>
        </p:blipFill>
        <p:spPr>
          <a:xfrm xmlns:a="http://schemas.openxmlformats.org/drawingml/2006/main">
            <a:off x="3886200" y="2186703"/>
            <a:ext cx="3429000" cy="278939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d545406bc4ef1"/>
          <a:stretch xmlns:a="http://schemas.openxmlformats.org/drawingml/2006/main"/>
        </p:blipFill>
        <p:spPr>
          <a:xfrm xmlns:a="http://schemas.openxmlformats.org/drawingml/2006/main">
            <a:off x="7943850" y="2070372"/>
            <a:ext cx="3429000" cy="30220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35780-BC11-47D1-89F8-3B6017F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830F-7658-4760-A4F2-5D94F228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用一次推理完成目标发现、分类与定位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6162E-EAF9-42D2-8587-4B7B47F5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DEFDE-008F-423D-81EB-4DF07E85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BFA1A-59B1-4D34-A33E-4B16399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37308-9DD5-48AD-930D-DD1069E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输入图像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1AB6B-CA0E-4557-A7B3-CE42714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145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E8C60-CB94-4824-A0FF-C6594DB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144D7-B2AC-48B2-A27F-AC51D52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ABEE4-C4BC-4AB9-9355-6545D2B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类别 + 置信度 + 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E46A4-647F-4EA0-803F-AA71D5E7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7D6B9-0378-4A19-B110-11BBCBC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项目当前支持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2145DE-E697-4C98-8783-95B48ED4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247DB-18B3-4122-8872-3494145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DET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84CCA-F376-41D6-A481-E9EEE317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水平框目标检测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F0FE5-3879-4C16-B79A-50ABBD2D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OBB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A7A9D-CFCB-480B-AA22-270F34EB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旋转框目标检测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A95FA-36B8-47BF-B959-D7C7E8D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A59D9-004B-42A7-AE2B-9DDD1742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实例分割与轮廓掩膜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DCA35-FF19-42D8-9F64-5588EF1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43BB6-3BE6-4A3E-8010-949BA01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292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关键点与姿态估计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4DF1B-CF32-44EB-9E1E-AE17B4D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适合：缺陷类别明确、目标形态多变、规则难以完全描述的任务。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4a0c727a14b71"/>
          <a:stretch xmlns:a="http://schemas.openxmlformats.org/drawingml/2006/main"/>
        </p:blipFill>
        <p:spPr>
          <a:xfrm xmlns:a="http://schemas.openxmlformats.org/drawingml/2006/main">
            <a:off x="1049040" y="2590800"/>
            <a:ext cx="3845519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409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A7050-A062-4C7E-B9F3-C70FED87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47FC7-1096-47E7-87ED-011348BD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的效果取决于数据、模型与现场参数共同闭环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2831-95B9-4ADB-8142-9CEC2E3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E6DFB-0654-412B-A154-F1ECE77D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CD86A-176B-4BEB-A298-8EA65E57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53632-9988-4511-8887-82A0CA9C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226EF-0E9C-4ADC-957E-F6F3404D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2948E-A8E0-4889-9B36-1795D0B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定义类别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9D2F9-F796-45D0-A0FE-ADC5606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0C06B-1713-42B8-81CA-1CD26CE2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先明确要区分的缺陷、正常目标与判定边界。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9BD03-29D2-4983-BD0E-E2829632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31C97-AB28-4AF3-BDCB-492E517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5AFAE-823C-460D-B7D4-4185E6E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采集与标注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85D35-E3A1-4750-A85C-648EAC3D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F0183-D375-4CCA-9ED3-5754BB4C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覆盖角度、光照、批次、正常变化和典型异常。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4A435-5FF7-41C2-A0DB-3EA5C301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41953-180B-4F61-82E6-374E73F6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EEAC0-EC1B-4409-84B6-513734EB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C6DF2-F4F1-4817-AB3F-94A1C00B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FB6F1-9661-436F-9974-A6ED8E9D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检查漏检、误检与类别混淆，不只看单一指标。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79BB0-4035-4F09-AF10-42292D6A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26D9A-5D97-45CB-B5BF-824EF27F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0AE06-80D7-4F6B-9987-28C521B7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部署推理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C80B0-806E-46BD-A823-484FB1D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2B278-A7D4-44EC-BB8E-BD46596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项目代码支持 CPU/OpenVINO 与 GPU/TensorRT 路线。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2399D-0672-4AD3-B871-8BCD973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C8ADC-AE46-4197-ADDB-5FB7C80A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现场调参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1208D-A9E4-4C09-95C0-0F85E87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F0787-5F7F-4F97-B6F7-4C47476A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结合置信度、ROI、检测项上下限与工艺标准优化。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948361-D242-49B2-AD9F-8E4E856A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F29206-9948-44E9-A243-3340A3FB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部署重点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624383-9107-40D9-A550-C8F33A9D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数据分布要接近现场；阈值要与工艺标准联动；模型升级前后要用同一验证集复核。</a:t>
            </a:r>
          </a:p>
        </p:txBody>
      </p:sp>
    </p:spTree>
    <p:extLst>
      <p:ext uri="{BB962C8B-B14F-4D97-AF65-F5344CB8AC3E}">
        <p14:creationId xmlns:p14="http://schemas.microsoft.com/office/powerpoint/2010/main" val="650490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9D7C61-702D-414D-ADEB-36B838EC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92344-3352-4C98-AF6B-2197829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无监督检测先学习“正常”，再寻找偏离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750BF-78BA-4BB5-B6BC-81503E44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EF8B4-F9D4-4E5C-8AEC-6469BE8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AB054-DD81-4279-ACD5-53E05B2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90822-5DC7-4869-AD26-7A4C81BB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69168-1168-414C-A22B-C83E0576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78275-816E-43CF-B996-223C1577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8BFF-EEC1-45AA-BA40-EBDDAD5E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学习正常特征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467C3-141F-4ADC-894D-66FE576D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2AD3C-8322-432D-8115-28C6A2E8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待测图像与正常特征比较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29814-3DF0-409C-9932-832456A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99D42-6D04-4C12-813B-5A56EED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385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异常分数 + 异常区域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6F732-9B74-4CFB-BACB-D891AC00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D25C4-2DF9-4817-BCCA-5D2D8A63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EEF4C-3B5B-4EEA-A7AE-6D2DF251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4210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异常样本少、缺陷类型未知、表面纹理或外观变化难以枚举。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D73C7-C4C2-4E40-BFC4-D178EBFF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C9B5D-E427-4676-98AC-492A109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400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ROI、阈值、最小缺陷面积、最大异常框数量与模板文件。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5087872314525"/>
          <a:stretch xmlns:a="http://schemas.openxmlformats.org/drawingml/2006/main"/>
        </p:blipFill>
        <p:spPr>
          <a:xfrm xmlns:a="http://schemas.openxmlformats.org/drawingml/2006/main">
            <a:off x="552450" y="2098668"/>
            <a:ext cx="4457700" cy="2965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343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34EF77-A5F0-426C-943F-9DCEAEB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F6F93-4C83-421D-AA35-3A0A470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大模型以更强的视觉特征表达识别复杂外观差异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0AF8E-6CEF-4768-84E1-CD53BB0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83122-3226-4BDF-B392-1116FA0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9BACC-3B5A-497E-9E9A-DF659712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60B43-2FE5-4180-A04A-B8060094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858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E1ECD-9110-449A-9731-73345668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项目当前实现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46B82-7377-4F2E-89AA-58753AA8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908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DINOv2 特征 + Memory Bank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61839-3D31-4891-B0F5-6C5002A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361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用正常样本构建特征库；推理时计算待测区域与正常特征的差异，输出异常分数和区域。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9737-4DAD-4879-B5A0-D03BE39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E899E-1915-4CB3-BDAB-9A1E53A9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842C6-6AD8-4027-B62A-A4B91EF9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619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对复杂纹理、细微外观变化和跨区域特征更有表达力。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E58A1-7E4F-4648-807D-B23E10F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工程边界：最终效果仍取决于样本覆盖、ROI、阈值、光学条件与现场验证。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53cab3f834bac"/>
          <a:stretch xmlns:a="http://schemas.openxmlformats.org/drawingml/2006/main"/>
        </p:blipFill>
        <p:spPr>
          <a:xfrm xmlns:a="http://schemas.openxmlformats.org/drawingml/2006/main">
            <a:off x="552450" y="1922242"/>
            <a:ext cx="6553200" cy="35278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00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1AA58-7E8C-4400-A6F2-D60E251E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9623B-DE33-4C4A-BFA2-2D0796A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算法选型要看规则稳定性、样本与缺陷可定义程度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1233F-ACC5-4D70-9D8C-D772D009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2598E-B645-4EFD-84B1-3B63673D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38487-73E3-43B2-BC15-48AEA2C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3A021-862E-4851-8F94-73CA9E61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DCF7B-900A-4B59-8BBE-2CC26B28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D081E-FD85-4FFD-8BDE-7F761C34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1F296-8A7F-4B2E-B19B-A4873D0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是否需要标注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AE633-8664-4763-83D1-D90EE520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19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CF2B5-AB1A-4570-8D1A-EAD241B5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50E8E-406F-42FB-9C7E-B2C376E8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DFA7-E5F7-486D-AD4D-7E04D87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主要优势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CCBF7-64C6-48DF-8272-4C91175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99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FFA4F-FDA0-4E08-AF33-3CE9C9B6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优先关注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69C5C-055C-4CBF-A1AE-A5B43D06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B5F1B-2029-4A7E-B5A2-34CD707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传统视觉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A04F7-242B-49F8-88EE-AD7326E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717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EF53C-1A75-42EB-80FA-542C5005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不需要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A334A-97AB-4FB5-AF92-FF25CEE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EBF1A-6F2F-4941-A3D3-FECA39F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规则清晰的几何与颜色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1A38F-0D5C-4114-904E-E9FEC7E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E8C1D-E42C-45D5-8DEB-A7B766B2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可解释、参数直接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C1BB8F-5387-4A6D-BD7F-8AA81209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170BA-E9DE-442A-9548-8817C60C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光照、边缘、ROI 稳定性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36FAD-600D-4001-A8BB-418DC5B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914EC-51DA-431E-932A-BDA5AC64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YOLO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05A9B-8211-4919-8187-4D3A2738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099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8DCA8-EA31-4728-9E4E-754002AC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需要类别/框/掩膜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3E15C-E7A1-49F5-A174-FE640696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2FF14-0F1F-4A43-9234-75E6EBA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已知类别与多目标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7029D9-B5C6-41CD-BBDF-26AEE30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BEF528-1847-4811-8C00-87A73798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泛化形态变化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83084B-9DBA-4AAF-B3C3-153C32B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2A521-3F7B-4E4B-9182-35FC75A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样本覆盖、漏检与误检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C1C981-ABB2-4779-9059-34DECF40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197696-7146-4726-818D-527141F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C6EDCB-CC1F-473E-888A-5E2B53B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481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58F838-8245-424E-BB6C-8197E875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以正常样本为主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A272F3-BE25-4BDA-8B80-9D7E93B6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1720A-9B0B-4128-A6BA-F9A3267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005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未知异常与表面缺陷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C0CE35-FFF2-4204-BB27-D729C52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E164BE-E65B-425E-B908-2D4B54B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异常样本需求低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A009EA-679E-4FF8-8541-00D7D90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093627-2BAD-4DC7-9E5B-E7A5DD57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正常变化、阈值与面积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251AC6-A3C8-410A-8C55-DBA5F24A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1A0D22-9C21-44A6-987D-EB32D7AF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20D4BB-E0AA-47B1-AA7F-AF71E5E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863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C01E54-CB0D-4DC0-90CA-B6ED8F1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以正常样本为主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9CB99C-D441-4839-9B3A-F2FE9CE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1C50F2-A67F-47A0-92B9-A990B663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复杂纹理与细微差异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96A6A3-0F94-4EB0-8603-1ECCB5FF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DDC897-FD22-448D-B4B2-58724DC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视觉特征表达强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0E7394-A6E1-4B49-8906-044D41ED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322539-F299-473D-BCB0-665327BB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387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特征库、资源与现场验证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2EC28E-ED63-41DD-83EB-8D1D6B6C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工程建议：同一流程可以混合使用多种方法，让各自解决最擅长的问题。</a:t>
            </a:r>
          </a:p>
        </p:txBody>
      </p:sp>
    </p:spTree>
    <p:extLst>
      <p:ext uri="{BB962C8B-B14F-4D97-AF65-F5344CB8AC3E}">
        <p14:creationId xmlns:p14="http://schemas.microsoft.com/office/powerpoint/2010/main" val="3701627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95039-9850-4620-B04B-93522127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5198A-6C81-4F68-B72D-A2D0C45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运行参数上下限把算法结果转换成现场判定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4645E-E803-433B-9BE3-02CA9DED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40000-D00F-434F-A88A-E35974F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1C8BD-D2C5-496F-A731-BDB778FA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ACDFA-A5DE-4970-AA29-5899F101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8580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91818-000E-40E8-AFB5-EECCDA96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下限值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E2EC1-252A-4E62-BD6B-53440CDC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允许范围的起点；测量值低于下限时可判为 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12908-F2EC-4C97-8990-201AB60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031DF-85E5-4271-BA83-7FC5243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来自本次运行的实际检测结果，用于现场对照和调参。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32B5D-55B9-40ED-AED6-E33AE12F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96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上限值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E5CDB-C7E6-416E-B125-CC21D06C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允许范围的终点；测量值高于上限时可判为 NG。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2C54E-7946-49EF-9BFB-9BB2CDF2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48855-CDEA-4C94-8A7D-5EA6894E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C7A98-6F08-4BC0-A2AB-BF781C4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95950"/>
            <a:ext cx="923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先采集稳定样本 → 查看当前值分布 → 按工艺标准设置上下限 → 保存并用 OK/NG 样本复核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9d6e962e244cb"/>
          <a:stretch xmlns:a="http://schemas.openxmlformats.org/drawingml/2006/main"/>
        </p:blipFill>
        <p:spPr>
          <a:xfrm xmlns:a="http://schemas.openxmlformats.org/drawingml/2006/main">
            <a:off x="954822" y="1733550"/>
            <a:ext cx="5748457" cy="3352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554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022C57-968D-4951-ABCF-EB0CF835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2477F-ECDE-4B8D-B3F1-5B391846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9537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用同一套流程平台，
组合最合适的检测方法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66B4F-BB6C-4D8F-BB58-3BAB7E2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FDD99-A832-4659-BCF3-AFFA1A00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测量与定位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828C2-9BFD-40D7-B3B8-F89A3B1B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先建立稳定基准，让几何结果可重复。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C8FC9-A4A2-472C-BD06-69C37C78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4E8DC-2F52-4276-97DA-6E1981A8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5290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按规则、YOLO、无监督或大模型选择路线。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4A8E1-FEE4-4803-9ED7-0F004D9E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现场判定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54ECB-493E-4416-8B89-E8573405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用运行参数上下限把结果连接到工艺标准。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18A32-5721-488A-A429-E2FF6F8F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96024-85B2-487C-BE13-6C077192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76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推荐落地路径：稳定成像 → 建立基准 → 选择算法 → 设置上下限 → 用真实样本闭环验证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ED0B9-8331-474B-8A93-57762095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28065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2026-07-14T06:37:06.5950000Z</dcterms:created>
  <dcterms:modified xsi:type="dcterms:W3CDTF">2026-07-14T06:37:06.5950000Z</dcterms:modified>
</coreProperties>
</file>