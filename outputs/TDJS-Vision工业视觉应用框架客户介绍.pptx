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eb359ac6b4597" /><Relationship Type="http://schemas.openxmlformats.org/officeDocument/2006/relationships/extended-properties" Target="/docProps/app.xml" Id="Rf679e7a93b2a425c" /><Relationship Type="http://schemas.openxmlformats.org/officeDocument/2006/relationships/officeDocument" Target="/ppt/presentation.xml" Id="R21b758fb2f5048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dc4b38babc47e4"/>
  </p:sldMasterIdLst>
  <p:notesMasterIdLst>
    <p:notesMasterId xmlns:r="http://schemas.openxmlformats.org/officeDocument/2006/relationships" r:id="Ra5d9de3f4e294a65"/>
  </p:notesMasterIdLst>
  <p:sldIdLst>
    <p:sldId xmlns:r="http://schemas.openxmlformats.org/officeDocument/2006/relationships" id="256" r:id="R62a586c8726c477e"/>
    <p:sldId xmlns:r="http://schemas.openxmlformats.org/officeDocument/2006/relationships" id="257" r:id="R117ea697b92b4f3f"/>
    <p:sldId xmlns:r="http://schemas.openxmlformats.org/officeDocument/2006/relationships" id="258" r:id="Rb1720656974442cf"/>
    <p:sldId xmlns:r="http://schemas.openxmlformats.org/officeDocument/2006/relationships" id="259" r:id="R7ab1e223e85245e9"/>
    <p:sldId xmlns:r="http://schemas.openxmlformats.org/officeDocument/2006/relationships" id="260" r:id="R0e214c2fbf204f32"/>
    <p:sldId xmlns:r="http://schemas.openxmlformats.org/officeDocument/2006/relationships" id="261" r:id="R72c7ea52f1d34fba"/>
    <p:sldId xmlns:r="http://schemas.openxmlformats.org/officeDocument/2006/relationships" id="262" r:id="R16da3cd929b94ef2"/>
    <p:sldId xmlns:r="http://schemas.openxmlformats.org/officeDocument/2006/relationships" id="263" r:id="R2f48fc5a071d422a"/>
    <p:sldId xmlns:r="http://schemas.openxmlformats.org/officeDocument/2006/relationships" id="264" r:id="R51f1fd1e0de942f5"/>
    <p:sldId xmlns:r="http://schemas.openxmlformats.org/officeDocument/2006/relationships" id="265" r:id="R68b701eae1ba41b3"/>
    <p:sldId xmlns:r="http://schemas.openxmlformats.org/officeDocument/2006/relationships" id="266" r:id="Rfc74340160264741"/>
    <p:sldId xmlns:r="http://schemas.openxmlformats.org/officeDocument/2006/relationships" id="267" r:id="Rebfb747e91004554"/>
    <p:sldId xmlns:r="http://schemas.openxmlformats.org/officeDocument/2006/relationships" id="268" r:id="R9b18fa62d17142d1"/>
    <p:sldId xmlns:r="http://schemas.openxmlformats.org/officeDocument/2006/relationships" id="269" r:id="R54c53af01c5f4fda"/>
    <p:sldId xmlns:r="http://schemas.openxmlformats.org/officeDocument/2006/relationships" id="270" r:id="R7ea1cabb42f144ca"/>
    <p:sldId xmlns:r="http://schemas.openxmlformats.org/officeDocument/2006/relationships" id="271" r:id="Rf04692e664ab4c59"/>
    <p:sldId xmlns:r="http://schemas.openxmlformats.org/officeDocument/2006/relationships" id="272" r:id="R80dca0a74e674aff"/>
    <p:sldId xmlns:r="http://schemas.openxmlformats.org/officeDocument/2006/relationships" id="273" r:id="R1f6442c1632f4806"/>
    <p:sldId xmlns:r="http://schemas.openxmlformats.org/officeDocument/2006/relationships" id="274" r:id="R413b3485d0a341e5"/>
    <p:sldId xmlns:r="http://schemas.openxmlformats.org/officeDocument/2006/relationships" id="275" r:id="Rb5ea42a51971430a"/>
    <p:sldId xmlns:r="http://schemas.openxmlformats.org/officeDocument/2006/relationships" id="276" r:id="Rdec141ba76474b90"/>
    <p:sldId xmlns:r="http://schemas.openxmlformats.org/officeDocument/2006/relationships" id="277" r:id="R0e736a1de66d44b1"/>
    <p:sldId xmlns:r="http://schemas.openxmlformats.org/officeDocument/2006/relationships" id="278" r:id="R87c97a6b305846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d8ff8d91945d8" /><Relationship Type="http://schemas.openxmlformats.org/officeDocument/2006/relationships/slideMaster" Target="/ppt/slideMasters/slideMaster1.xml" Id="Rf1dc4b38babc47e4" /><Relationship Type="http://schemas.openxmlformats.org/officeDocument/2006/relationships/notesMaster" Target="/ppt/notesMasters/notesMaster1.xml" Id="Ra5d9de3f4e294a65" /><Relationship Type="http://schemas.openxmlformats.org/officeDocument/2006/relationships/presProps" Target="/ppt/presProps.xml" Id="R982058d3dedd408f" /><Relationship Type="http://schemas.openxmlformats.org/officeDocument/2006/relationships/tableStyles" Target="/ppt/tableStyles.xml" Id="Rd0020fb5b96a49a1" /><Relationship Type="http://schemas.openxmlformats.org/officeDocument/2006/relationships/slide" Target="/ppt/slides/slide1.xml" Id="R62a586c8726c477e" /><Relationship Type="http://schemas.openxmlformats.org/officeDocument/2006/relationships/slide" Target="/ppt/slides/slide2.xml" Id="R117ea697b92b4f3f" /><Relationship Type="http://schemas.openxmlformats.org/officeDocument/2006/relationships/slide" Target="/ppt/slides/slide3.xml" Id="Rb1720656974442cf" /><Relationship Type="http://schemas.openxmlformats.org/officeDocument/2006/relationships/slide" Target="/ppt/slides/slide4.xml" Id="R7ab1e223e85245e9" /><Relationship Type="http://schemas.openxmlformats.org/officeDocument/2006/relationships/slide" Target="/ppt/slides/slide5.xml" Id="R0e214c2fbf204f32" /><Relationship Type="http://schemas.openxmlformats.org/officeDocument/2006/relationships/slide" Target="/ppt/slides/slide6.xml" Id="R72c7ea52f1d34fba" /><Relationship Type="http://schemas.openxmlformats.org/officeDocument/2006/relationships/slide" Target="/ppt/slides/slide7.xml" Id="R16da3cd929b94ef2" /><Relationship Type="http://schemas.openxmlformats.org/officeDocument/2006/relationships/slide" Target="/ppt/slides/slide8.xml" Id="R2f48fc5a071d422a" /><Relationship Type="http://schemas.openxmlformats.org/officeDocument/2006/relationships/slide" Target="/ppt/slides/slide9.xml" Id="R51f1fd1e0de942f5" /><Relationship Type="http://schemas.openxmlformats.org/officeDocument/2006/relationships/slide" Target="/ppt/slides/slide10.xml" Id="R68b701eae1ba41b3" /><Relationship Type="http://schemas.openxmlformats.org/officeDocument/2006/relationships/slide" Target="/ppt/slides/slide11.xml" Id="Rfc74340160264741" /><Relationship Type="http://schemas.openxmlformats.org/officeDocument/2006/relationships/slide" Target="/ppt/slides/slide12.xml" Id="Rebfb747e91004554" /><Relationship Type="http://schemas.openxmlformats.org/officeDocument/2006/relationships/slide" Target="/ppt/slides/slide13.xml" Id="R9b18fa62d17142d1" /><Relationship Type="http://schemas.openxmlformats.org/officeDocument/2006/relationships/slide" Target="/ppt/slides/slide14.xml" Id="R54c53af01c5f4fda" /><Relationship Type="http://schemas.openxmlformats.org/officeDocument/2006/relationships/slide" Target="/ppt/slides/slide15.xml" Id="R7ea1cabb42f144ca" /><Relationship Type="http://schemas.openxmlformats.org/officeDocument/2006/relationships/slide" Target="/ppt/slides/slide16.xml" Id="Rf04692e664ab4c59" /><Relationship Type="http://schemas.openxmlformats.org/officeDocument/2006/relationships/slide" Target="/ppt/slides/slide17.xml" Id="R80dca0a74e674aff" /><Relationship Type="http://schemas.openxmlformats.org/officeDocument/2006/relationships/slide" Target="/ppt/slides/slide18.xml" Id="R1f6442c1632f4806" /><Relationship Type="http://schemas.openxmlformats.org/officeDocument/2006/relationships/slide" Target="/ppt/slides/slide19.xml" Id="R413b3485d0a341e5" /><Relationship Type="http://schemas.openxmlformats.org/officeDocument/2006/relationships/slide" Target="/ppt/slides/slide20.xml" Id="Rb5ea42a51971430a" /><Relationship Type="http://schemas.openxmlformats.org/officeDocument/2006/relationships/slide" Target="/ppt/slides/slide21.xml" Id="Rdec141ba76474b90" /><Relationship Type="http://schemas.openxmlformats.org/officeDocument/2006/relationships/slide" Target="/ppt/slides/slide22.xml" Id="R0e736a1de66d44b1" /><Relationship Type="http://schemas.openxmlformats.org/officeDocument/2006/relationships/slide" Target="/ppt/slides/slide23.xml" Id="R87c97a6b3058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1e34720bc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b60ae207d743c3" /><Relationship Type="http://schemas.openxmlformats.org/officeDocument/2006/relationships/notesMaster" Target="/ppt/notesMasters/notesMaster1.xml" Id="Rf0e9f2bf933549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30a0198a4341d5" /><Relationship Type="http://schemas.openxmlformats.org/officeDocument/2006/relationships/notesMaster" Target="/ppt/notesMasters/notesMaster1.xml" Id="Rf5391126bef6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f47e1098c4778" /><Relationship Type="http://schemas.openxmlformats.org/officeDocument/2006/relationships/notesMaster" Target="/ppt/notesMasters/notesMaster1.xml" Id="R17f322a1f53648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181eafbdb54f2e" /><Relationship Type="http://schemas.openxmlformats.org/officeDocument/2006/relationships/notesMaster" Target="/ppt/notesMasters/notesMaster1.xml" Id="R6be823847190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dbb35602d4264" /><Relationship Type="http://schemas.openxmlformats.org/officeDocument/2006/relationships/notesMaster" Target="/ppt/notesMasters/notesMaster1.xml" Id="Ra721f68ee55e42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806a795ae4040" /><Relationship Type="http://schemas.openxmlformats.org/officeDocument/2006/relationships/notesMaster" Target="/ppt/notesMasters/notesMaster1.xml" Id="R280bcfa0fabb4b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2a9f5b9e984c0e" /><Relationship Type="http://schemas.openxmlformats.org/officeDocument/2006/relationships/notesMaster" Target="/ppt/notesMasters/notesMaster1.xml" Id="Rb9010cdd9ee04f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fe12adcb324e92" /><Relationship Type="http://schemas.openxmlformats.org/officeDocument/2006/relationships/notesMaster" Target="/ppt/notesMasters/notesMaster1.xml" Id="Rff7a9e12d6444d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9e24653701439d" /><Relationship Type="http://schemas.openxmlformats.org/officeDocument/2006/relationships/notesMaster" Target="/ppt/notesMasters/notesMaster1.xml" Id="R620ab415111048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a7af34ddee40d1" /><Relationship Type="http://schemas.openxmlformats.org/officeDocument/2006/relationships/notesMaster" Target="/ppt/notesMasters/notesMaster1.xml" Id="R51db06d439dd44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401363851544f1" /><Relationship Type="http://schemas.openxmlformats.org/officeDocument/2006/relationships/notesMaster" Target="/ppt/notesMasters/notesMaster1.xml" Id="R30fd6e4d5e3a4d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f04b00a4b844e5" /><Relationship Type="http://schemas.openxmlformats.org/officeDocument/2006/relationships/notesMaster" Target="/ppt/notesMasters/notesMaster1.xml" Id="Rf16d6ce1521d4c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e9b3f3a94b4006" /><Relationship Type="http://schemas.openxmlformats.org/officeDocument/2006/relationships/notesMaster" Target="/ppt/notesMasters/notesMaster1.xml" Id="R5d8d066fa5ac4c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7a527d9f474b57" /><Relationship Type="http://schemas.openxmlformats.org/officeDocument/2006/relationships/notesMaster" Target="/ppt/notesMasters/notesMaster1.xml" Id="Ra147696c639547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eef4ce8bab402a" /><Relationship Type="http://schemas.openxmlformats.org/officeDocument/2006/relationships/notesMaster" Target="/ppt/notesMasters/notesMaster1.xml" Id="R59096ff8154545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d54bde3394341" /><Relationship Type="http://schemas.openxmlformats.org/officeDocument/2006/relationships/notesMaster" Target="/ppt/notesMasters/notesMaster1.xml" Id="Reff34830543c42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e735bdd28146b7" /><Relationship Type="http://schemas.openxmlformats.org/officeDocument/2006/relationships/notesMaster" Target="/ppt/notesMasters/notesMaster1.xml" Id="R5d4b0a77efb340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1ebd2164564183" /><Relationship Type="http://schemas.openxmlformats.org/officeDocument/2006/relationships/notesMaster" Target="/ppt/notesMasters/notesMaster1.xml" Id="R90b858e4bea24d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605183cce843ec" /><Relationship Type="http://schemas.openxmlformats.org/officeDocument/2006/relationships/notesMaster" Target="/ppt/notesMasters/notesMaster1.xml" Id="Rd824d7085e4b43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6c0132ce924ce8" /><Relationship Type="http://schemas.openxmlformats.org/officeDocument/2006/relationships/notesMaster" Target="/ppt/notesMasters/notesMaster1.xml" Id="Rde8bd1a76ec743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c260db19c8245f2" /><Relationship Type="http://schemas.openxmlformats.org/officeDocument/2006/relationships/notesMaster" Target="/ppt/notesMasters/notesMaster1.xml" Id="R4be170a03a6d4b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e60668a04049fd" /><Relationship Type="http://schemas.openxmlformats.org/officeDocument/2006/relationships/notesMaster" Target="/ppt/notesMasters/notesMaster1.xml" Id="R6be9debfcfe243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019e126e2949cb" /><Relationship Type="http://schemas.openxmlformats.org/officeDocument/2006/relationships/notesMaster" Target="/ppt/notesMasters/notesMaster1.xml" Id="R8d2c5c77b1d146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600b6275849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dc78f6ebd44cb9" /><Relationship Type="http://schemas.openxmlformats.org/officeDocument/2006/relationships/slideLayout" Target="/ppt/slideLayouts/slideLayout1.xml" Id="R853f9a1cbbbe42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3f9a1cbbbe42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a7d37a734a31" /><Relationship Type="http://schemas.openxmlformats.org/officeDocument/2006/relationships/image" Target="/ppt/media/image.png" Id="R3aa3316c4c20470f" /><Relationship Type="http://schemas.openxmlformats.org/officeDocument/2006/relationships/notesSlide" Target="/ppt/notesSlides/notesSlide1.xml" Id="Re01bba8ba52b4a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efacdbe4244f9" /><Relationship Type="http://schemas.openxmlformats.org/officeDocument/2006/relationships/notesSlide" Target="/ppt/notesSlides/notesSlide2.xml" Id="R0ec2b4981a1045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be18d50984498" /><Relationship Type="http://schemas.openxmlformats.org/officeDocument/2006/relationships/notesSlide" Target="/ppt/notesSlides/notesSlide3.xml" Id="R051086d5435144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00aa939ad415c" /><Relationship Type="http://schemas.openxmlformats.org/officeDocument/2006/relationships/notesSlide" Target="/ppt/notesSlides/notesSlide4.xml" Id="Re69e3cfd17cc48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f93cd9c7c4019" /><Relationship Type="http://schemas.openxmlformats.org/officeDocument/2006/relationships/notesSlide" Target="/ppt/notesSlides/notesSlide5.xml" Id="R0ff5f54b2ae5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51415fcb640fb" /><Relationship Type="http://schemas.openxmlformats.org/officeDocument/2006/relationships/notesSlide" Target="/ppt/notesSlides/notesSlide6.xml" Id="R95d0ae8369cb41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8ecd21e514728" /><Relationship Type="http://schemas.openxmlformats.org/officeDocument/2006/relationships/image" Target="/ppt/media/image2.png" Id="Rf581ad47ac9c4d0c" /><Relationship Type="http://schemas.openxmlformats.org/officeDocument/2006/relationships/notesSlide" Target="/ppt/notesSlides/notesSlide7.xml" Id="R8b95bcd456a54f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7150ee3554cc8" /><Relationship Type="http://schemas.openxmlformats.org/officeDocument/2006/relationships/notesSlide" Target="/ppt/notesSlides/notesSlide8.xml" Id="Rfd501191357044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06cbe02794081" /><Relationship Type="http://schemas.openxmlformats.org/officeDocument/2006/relationships/image" Target="/ppt/media/image3.png" Id="R1fd6ceaa655a4b1e" /><Relationship Type="http://schemas.openxmlformats.org/officeDocument/2006/relationships/image" Target="/ppt/media/image4.png" Id="R11e17b421aaf47e8" /><Relationship Type="http://schemas.openxmlformats.org/officeDocument/2006/relationships/image" Target="/ppt/media/image5.png" Id="R533e76324d474a2c" /><Relationship Type="http://schemas.openxmlformats.org/officeDocument/2006/relationships/image" Target="/ppt/media/image6.png" Id="Rfe6750525a9e415d" /><Relationship Type="http://schemas.openxmlformats.org/officeDocument/2006/relationships/image" Target="/ppt/media/image7.png" Id="R5574498d15c74832" /><Relationship Type="http://schemas.openxmlformats.org/officeDocument/2006/relationships/image" Target="/ppt/media/image8.png" Id="R54fc379f76a64820" /><Relationship Type="http://schemas.openxmlformats.org/officeDocument/2006/relationships/notesSlide" Target="/ppt/notesSlides/notesSlide9.xml" Id="R4ae12d59a7254b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6f8c919404255" /><Relationship Type="http://schemas.openxmlformats.org/officeDocument/2006/relationships/notesSlide" Target="/ppt/notesSlides/notesSlide10.xml" Id="R3ece40956b624d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835e032c74b5c" /><Relationship Type="http://schemas.openxmlformats.org/officeDocument/2006/relationships/image" Target="/ppt/media/image9.png" Id="R22a3241cc1ea4b84" /><Relationship Type="http://schemas.openxmlformats.org/officeDocument/2006/relationships/image" Target="/ppt/media/image10.png" Id="R32735510129b42ef" /><Relationship Type="http://schemas.openxmlformats.org/officeDocument/2006/relationships/image" Target="/ppt/media/image11.png" Id="R32ba6d128f494f54" /><Relationship Type="http://schemas.openxmlformats.org/officeDocument/2006/relationships/image" Target="/ppt/media/image12.png" Id="R3c48e0b8321e4e15" /><Relationship Type="http://schemas.openxmlformats.org/officeDocument/2006/relationships/notesSlide" Target="/ppt/notesSlides/notesSlide11.xml" Id="Rf092ddd3badc46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e3d4a78c5470f" /><Relationship Type="http://schemas.openxmlformats.org/officeDocument/2006/relationships/image" Target="/ppt/media/image13.png" Id="R4820ed892e6444ce" /><Relationship Type="http://schemas.openxmlformats.org/officeDocument/2006/relationships/notesSlide" Target="/ppt/notesSlides/notesSlide12.xml" Id="Ra972e6121bc147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389e6e4414220" /><Relationship Type="http://schemas.openxmlformats.org/officeDocument/2006/relationships/notesSlide" Target="/ppt/notesSlides/notesSlide13.xml" Id="Rfe6afcc49e644c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9204f71a248fb" /><Relationship Type="http://schemas.openxmlformats.org/officeDocument/2006/relationships/notesSlide" Target="/ppt/notesSlides/notesSlide14.xml" Id="R825e3bdb77a747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7f1c0436c4c76" /><Relationship Type="http://schemas.openxmlformats.org/officeDocument/2006/relationships/notesSlide" Target="/ppt/notesSlides/notesSlide15.xml" Id="R8f318bfc371541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710030d58447a" /><Relationship Type="http://schemas.openxmlformats.org/officeDocument/2006/relationships/notesSlide" Target="/ppt/notesSlides/notesSlide16.xml" Id="R907af054cd4742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afab07e644dcb" /><Relationship Type="http://schemas.openxmlformats.org/officeDocument/2006/relationships/notesSlide" Target="/ppt/notesSlides/notesSlide17.xml" Id="R4e171e9acbd84d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2dbfa33714b06" /><Relationship Type="http://schemas.openxmlformats.org/officeDocument/2006/relationships/notesSlide" Target="/ppt/notesSlides/notesSlide18.xml" Id="R45613dda38cb4b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f398507d746a2" /><Relationship Type="http://schemas.openxmlformats.org/officeDocument/2006/relationships/image" Target="/ppt/media/image14.png" Id="R21febf045ca94ba7" /><Relationship Type="http://schemas.openxmlformats.org/officeDocument/2006/relationships/image" Target="/ppt/media/image15.png" Id="R3de374b4b0c84ecb" /><Relationship Type="http://schemas.openxmlformats.org/officeDocument/2006/relationships/image" Target="/ppt/media/image16.png" Id="R6560aa66275a422f" /><Relationship Type="http://schemas.openxmlformats.org/officeDocument/2006/relationships/image" Target="/ppt/media/image17.png" Id="Reef6bd5be91f4653" /><Relationship Type="http://schemas.openxmlformats.org/officeDocument/2006/relationships/image" Target="/ppt/media/image18.png" Id="R4c69dab138b44d41" /><Relationship Type="http://schemas.openxmlformats.org/officeDocument/2006/relationships/notesSlide" Target="/ppt/notesSlides/notesSlide19.xml" Id="R5e97839b81114f5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5f5f5ca664364" /><Relationship Type="http://schemas.openxmlformats.org/officeDocument/2006/relationships/notesSlide" Target="/ppt/notesSlides/notesSlide20.xml" Id="R2312f84e2af644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99ace0554ec2" /><Relationship Type="http://schemas.openxmlformats.org/officeDocument/2006/relationships/notesSlide" Target="/ppt/notesSlides/notesSlide21.xml" Id="R94eefa210b364f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41adbf9744924" /><Relationship Type="http://schemas.openxmlformats.org/officeDocument/2006/relationships/notesSlide" Target="/ppt/notesSlides/notesSlide22.xml" Id="R18574b6137c246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526d2a5d84330" /><Relationship Type="http://schemas.openxmlformats.org/officeDocument/2006/relationships/image" Target="/ppt/media/image19.png" Id="Rbc36f804619e4053" /><Relationship Type="http://schemas.openxmlformats.org/officeDocument/2006/relationships/notesSlide" Target="/ppt/notesSlides/notesSlide23.xml" Id="Rea504a193f2f4f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55CDA2-DCDE-42C5-8570-5B0191CB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2DA69-29CD-4E65-B897-3FE19776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C6BE"/>
                </a:solidFill>
              </a:defRPr>
            </a:pPr>
            <a:r>
              <a:rPr sz="1950" b="1">
                <a:solidFill>
                  <a:srgbClr val="25C6BE"/>
                </a:solidFill>
              </a:rPr>
              <a:t>TDJS-Vision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6D4AB-14BC-4747-9A26-C9253B9B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工业视觉应用框架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1701-358E-4E4F-B1D1-AC27F987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7D8D5"/>
                </a:solidFill>
              </a:defRPr>
            </a:pPr>
            <a:r>
              <a:rPr sz="2100" b="0">
                <a:solidFill>
                  <a:srgbClr val="C7D8D5"/>
                </a:solidFill>
              </a:rPr>
              <a:t>让图像采集、视觉算法、现场通信与生产追溯在一个平台内协同运行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D607D-6432-4B62-BD9C-1D66B225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BBDE0-6396-4DF3-B0C0-D2D4FF7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面向测量、缺陷检测、定位、识别、AI 与 3D 视觉应用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A1349-1DD5-4A9C-AAEF-EC16436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620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F4A"/>
          </a:solidFill>
          <a:ln xmlns:a="http://schemas.openxmlformats.org/drawingml/2006/main" w="28575">
            <a:solidFill>
              <a:srgbClr val="25C6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3316c4c20470f"/>
          <a:stretch xmlns:a="http://schemas.openxmlformats.org/drawingml/2006/main"/>
        </p:blipFill>
        <p:spPr>
          <a:xfrm xmlns:a="http://schemas.openxmlformats.org/drawingml/2006/main">
            <a:off x="9239250" y="15621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390F6-6AC4-43F6-AD37-0305BA59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C6BE"/>
                </a:solidFill>
              </a:defRPr>
            </a:pPr>
            <a:r>
              <a:rPr sz="1350" b="1">
                <a:solidFill>
                  <a:srgbClr val="25C6BE"/>
                </a:solidFill>
              </a:rPr>
              <a:t>客户介绍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09553-3D3B-4386-A2E5-26D8BA6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62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90A7A4"/>
                </a:solidFill>
              </a:defRPr>
            </a:pPr>
            <a:r>
              <a:rPr sz="1275" b="0">
                <a:solidFill>
                  <a:srgbClr val="90A7A4"/>
                </a:solidFill>
              </a:rPr>
              <a:t>当前软件框架能力概览</a:t>
            </a:r>
          </a:p>
        </p:txBody>
      </p:sp>
    </p:spTree>
    <p:extLst>
      <p:ext uri="{BB962C8B-B14F-4D97-AF65-F5344CB8AC3E}">
        <p14:creationId xmlns:p14="http://schemas.microsoft.com/office/powerpoint/2010/main" val="167401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D66BA5-6690-4317-8764-29B06248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CA932-AF56-4B93-A40D-F6015594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现场挑战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1D21A-6B36-4699-A38F-BA4CB9E3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工业视觉项目的难点，往往不在单一算法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685CB-16A4-444C-A3B3-E35C4B3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8CE19-CCC4-4BE1-8929-C2A3524C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2ADC8-F4B6-4DD6-99AA-DA3E3F48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02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AD239-0871-412A-9ECF-0E2A29D3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5F4A"/>
                </a:solidFill>
              </a:defRPr>
            </a:pPr>
            <a:r>
              <a:rPr sz="2325" b="1">
                <a:solidFill>
                  <a:srgbClr val="0C5F4A"/>
                </a:solidFill>
              </a:rPr>
              <a:t>真正影响交付周期和长期维护的，是设备、算法、流程和数据之间的协同。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9C0E9-F6D1-4F22-B019-96F5B34D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9B62"/>
                </a:solidFill>
              </a:defRPr>
            </a:pPr>
            <a:r>
              <a:rPr sz="2400" b="1">
                <a:solidFill>
                  <a:srgbClr val="169B6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08A86-2250-4999-BF6B-AB1EDA40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</a:defRPr>
            </a:pPr>
            <a:r>
              <a:rPr sz="2100" b="1">
                <a:solidFill>
                  <a:srgbClr val="102A2A"/>
                </a:solidFill>
              </a:rPr>
              <a:t>设备异构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D1C13-A254-43AB-9068-043E217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相机、光源、PLC、I/O 与协议各不相同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23759-3158-451C-BEF5-B84677E1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24FD6-826B-49C3-8C90-A98B00B1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6BE"/>
                </a:solidFill>
              </a:defRPr>
            </a:pPr>
            <a:r>
              <a:rPr sz="2400" b="1">
                <a:solidFill>
                  <a:srgbClr val="25C6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1B2DB-FD4B-4081-97E2-1F08CFA2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</a:defRPr>
            </a:pPr>
            <a:r>
              <a:rPr sz="2100" b="1">
                <a:solidFill>
                  <a:srgbClr val="102A2A"/>
                </a:solidFill>
              </a:rPr>
              <a:t>算法分散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563FD-2CE0-47B8-B4CB-C40A0A9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传统视觉、AI、测量工具缺少统一工作流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F63D2-C8BA-4EBF-93CF-ECC8840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CAC63-D32F-4BDC-BADC-8C40E758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9B62"/>
                </a:solidFill>
              </a:defRPr>
            </a:pPr>
            <a:r>
              <a:rPr sz="2400" b="1">
                <a:solidFill>
                  <a:srgbClr val="169B6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9882B-52E1-4118-ABC6-B2FF9A52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</a:defRPr>
            </a:pPr>
            <a:r>
              <a:rPr sz="2100" b="1">
                <a:solidFill>
                  <a:srgbClr val="102A2A"/>
                </a:solidFill>
              </a:rPr>
              <a:t>交付难复用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9978D-70DC-4E37-ACC8-15DDB935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91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项目逻辑散落在代码中，换线与维护成本高</a:t>
            </a:r>
          </a:p>
        </p:txBody>
      </p:sp>
    </p:spTree>
    <p:extLst>
      <p:ext uri="{BB962C8B-B14F-4D97-AF65-F5344CB8AC3E}">
        <p14:creationId xmlns:p14="http://schemas.microsoft.com/office/powerpoint/2010/main" val="411945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ECD76-94F1-45B8-826B-22B8694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AE5B4-FA7F-4DE1-B912-7F827B9B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平台价值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FED8A-3240-4F96-BB55-B8E08EBC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统一平台，把视觉项目变成可配置、可复用的工程资产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0FA34-70C6-4EC4-BC75-32578C77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7D02F-73F0-44AA-B27B-2CBF3751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483F7-5E59-4A65-9FAD-1F9CD68B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03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37ED6-F0E0-419D-8E11-C75BDCA1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C5F4A"/>
                </a:solidFill>
              </a:defRPr>
            </a:pPr>
            <a:r>
              <a:rPr sz="3000" b="1">
                <a:solidFill>
                  <a:srgbClr val="0C5F4A"/>
                </a:solidFill>
              </a:rPr>
              <a:t>采集 → 算法 → 判断 → 控制 → 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5F02A-6700-49DC-AD90-36616E2C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3D6D5-28A3-412F-8B44-4D0AA94B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C6BE"/>
                </a:solidFill>
              </a:defRPr>
            </a:pPr>
            <a:r>
              <a:rPr sz="1950" b="1">
                <a:solidFill>
                  <a:srgbClr val="25C6B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F39AF-FC81-46C9-B005-DC5B4874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</a:defRPr>
            </a:pPr>
            <a:r>
              <a:rPr sz="2100" b="1">
                <a:solidFill>
                  <a:srgbClr val="102A2A"/>
                </a:solidFill>
              </a:rPr>
              <a:t>更快搭建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62E5B-F5BB-4456-BD03-AED421E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拖拽节点与参数化配置，缩短方案实现路径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48C09-6000-428B-8DBD-858B1E4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99D3D-78B1-4370-97DB-2A3E608F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9B62"/>
                </a:solidFill>
              </a:defRPr>
            </a:pPr>
            <a:r>
              <a:rPr sz="1950" b="1">
                <a:solidFill>
                  <a:srgbClr val="169B6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2928F-7C6F-4A45-A988-8ADCB46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</a:defRPr>
            </a:pPr>
            <a:r>
              <a:rPr sz="2100" b="1">
                <a:solidFill>
                  <a:srgbClr val="102A2A"/>
                </a:solidFill>
              </a:rPr>
              <a:t>更易复用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CB6B4-98D2-4F85-9CCA-6DBC07A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流程、组合模块和方案文件沉淀项目经验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E78E9-9AD8-459F-94C3-CE40467C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3E9E9-E115-4880-B739-0346C9A3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C6BE"/>
                </a:solidFill>
              </a:defRPr>
            </a:pPr>
            <a:r>
              <a:rPr sz="1950" b="1">
                <a:solidFill>
                  <a:srgbClr val="25C6BE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69B63-173A-4ED7-982C-F50A6863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</a:defRPr>
            </a:pPr>
            <a:r>
              <a:rPr sz="2100" b="1">
                <a:solidFill>
                  <a:srgbClr val="102A2A"/>
                </a:solidFill>
              </a:rPr>
              <a:t>更便于维护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D0A42-0220-4203-8F3F-8BF1B5BB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设备、日志、结果和运行状态集中管理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6CBE3-D13D-472D-8264-F5EFBD59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DA66B-5AFE-4AB8-AEB8-34E15C21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9B62"/>
                </a:solidFill>
              </a:defRPr>
            </a:pPr>
            <a:r>
              <a:rPr sz="1950" b="1">
                <a:solidFill>
                  <a:srgbClr val="169B62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065BF-A44A-4165-BC54-6DCF653D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</a:defRPr>
            </a:pPr>
            <a:r>
              <a:rPr sz="2100" b="1">
                <a:solidFill>
                  <a:srgbClr val="102A2A"/>
                </a:solidFill>
              </a:rPr>
              <a:t>更容易扩展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AA79C-3323-478F-9A15-3BDCA2AF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接口化设备与节点体系承接新算法、新协议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95216-0461-4176-A3C0-C0CF5BE4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9B62"/>
                </a:solidFill>
              </a:defRPr>
            </a:pPr>
            <a:r>
              <a:rPr sz="2025" b="1">
                <a:solidFill>
                  <a:srgbClr val="169B62"/>
                </a:solidFill>
              </a:rPr>
              <a:t>平台价值不止是“能检测”，更在于让方案持续演进。</a:t>
            </a:r>
          </a:p>
        </p:txBody>
      </p:sp>
    </p:spTree>
    <p:extLst>
      <p:ext uri="{BB962C8B-B14F-4D97-AF65-F5344CB8AC3E}">
        <p14:creationId xmlns:p14="http://schemas.microsoft.com/office/powerpoint/2010/main" val="754302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41EA4-BA22-4904-9AC7-83B7CA3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0B669-E046-4E91-88BB-286A0F0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软件总览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32589-4264-46B7-BD66-D4F5F1BD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一个工作台，完成方案、设备、运行与结果管理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11A0B-F40F-4746-B540-B90A077A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A7615-2EBC-4834-BF02-DA649D5F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BFE04-F5A7-4B5B-8B90-49C4DAFE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04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3613C-0F61-4D26-9F8F-BD217C45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6863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6A220-27B3-4B1F-BAAD-DE85F33C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28661-832E-4CCB-91F2-31D104CE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C5F4A"/>
                </a:solidFill>
              </a:defRPr>
            </a:pPr>
            <a:r>
              <a:rPr sz="3900" b="1">
                <a:solidFill>
                  <a:srgbClr val="0C5F4A"/>
                </a:solidFill>
              </a:rPr>
              <a:t>统一工作台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4A450-832E-40D2-A7FE-EB820B71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D7372"/>
                </a:solidFill>
              </a:defRPr>
            </a:pPr>
            <a:r>
              <a:rPr sz="2025" b="0">
                <a:solidFill>
                  <a:srgbClr val="5D7372"/>
                </a:solidFill>
              </a:rPr>
              <a:t>方案 · 设备 · 流程 · 图像 · 结果 · 日志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74AD3-36D1-4167-B6D0-D7DA79E2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AC407-7D54-43EE-B522-ACEA1B55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方案文件 · 流程管理 · 相机/PLC/Modbus/TCP · 单次/循环运行 · 图像与结果视图</a:t>
            </a:r>
          </a:p>
        </p:txBody>
      </p:sp>
    </p:spTree>
    <p:extLst>
      <p:ext uri="{BB962C8B-B14F-4D97-AF65-F5344CB8AC3E}">
        <p14:creationId xmlns:p14="http://schemas.microsoft.com/office/powerpoint/2010/main" val="731755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D32F8-DB19-49A2-B5BF-AFC040DF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E584C-8A63-407C-9377-B4911AC0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核心架构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EDAEE-DBE0-4C4F-87AC-B51C1963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“方案—流程—节点”让复杂项目拥有清晰边界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70F91-C1EA-4EF6-A33A-19A8E562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D573A-C710-436E-8B95-4D0CFC83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E1A89-6114-49AF-96C5-45A1399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05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AF914-975E-4023-87A3-C3B04521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0287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DEEE9"/>
          </a:solidFill>
          <a:ln xmlns:a="http://schemas.openxmlformats.org/drawingml/2006/main" w="19050">
            <a:solidFill>
              <a:srgbClr val="0C5F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A5E91-887B-4B8E-A91A-F7AF3ADA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669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5F4A"/>
                </a:solidFill>
              </a:defRPr>
            </a:pPr>
            <a:r>
              <a:rPr sz="2175" b="1">
                <a:solidFill>
                  <a:srgbClr val="0C5F4A"/>
                </a:solidFill>
              </a:rPr>
              <a:t>方案 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69AA3-FC56-47F7-A2E1-A6F9CF7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3357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2A"/>
                </a:solidFill>
              </a:defRPr>
            </a:pPr>
            <a:r>
              <a:rPr sz="1575" b="0">
                <a:solidFill>
                  <a:srgbClr val="102A2A"/>
                </a:solidFill>
              </a:rPr>
              <a:t>项目级配置：设备、流程、共享变量、检测项与统计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5AF26-BDE1-4C48-A2CD-DF8B9AC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8572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1FACB-B541-4B21-975B-F0AFFC62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9B62"/>
                </a:solidFill>
              </a:defRPr>
            </a:pPr>
            <a:r>
              <a:rPr sz="2175" b="1">
                <a:solidFill>
                  <a:srgbClr val="169B62"/>
                </a:solidFill>
              </a:rPr>
              <a:t>流程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8EC3A-3907-4846-AE37-27CE8F2D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2A"/>
                </a:solidFill>
              </a:defRPr>
            </a:pPr>
            <a:r>
              <a:rPr sz="1575" b="0">
                <a:solidFill>
                  <a:srgbClr val="102A2A"/>
                </a:solidFill>
              </a:rPr>
              <a:t>检测与控制链路：分组、优先级、触发、并行和运行统计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939F2-C353-48C3-A74A-9B4182CD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005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2F7F6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B0994-D82E-4FA6-95A2-C31BAC6E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C6BE"/>
                </a:solidFill>
              </a:defRPr>
            </a:pPr>
            <a:r>
              <a:rPr sz="2175" b="1">
                <a:solidFill>
                  <a:srgbClr val="25C6BE"/>
                </a:solidFill>
              </a:rPr>
              <a:t>节点 Node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77176-9194-48E9-8A81-A19E968F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2A"/>
                </a:solidFill>
              </a:defRPr>
            </a:pPr>
            <a:r>
              <a:rPr sz="1575" b="0">
                <a:solidFill>
                  <a:srgbClr val="102A2A"/>
                </a:solidFill>
              </a:rPr>
              <a:t>可插拔动作：采图、预处理、检测、测量、通信、逻辑与输出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436A4-2551-4105-A0F2-81B7E3C8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D7372"/>
                </a:solidFill>
              </a:defRPr>
            </a:pPr>
            <a:r>
              <a:rPr sz="1725" b="0">
                <a:solidFill>
                  <a:srgbClr val="5D7372"/>
                </a:solidFill>
              </a:rPr>
              <a:t>边界清晰，意味着算法、设备和业务逻辑可以独立替换与复用。</a:t>
            </a:r>
          </a:p>
        </p:txBody>
      </p:sp>
    </p:spTree>
    <p:extLst>
      <p:ext uri="{BB962C8B-B14F-4D97-AF65-F5344CB8AC3E}">
        <p14:creationId xmlns:p14="http://schemas.microsoft.com/office/powerpoint/2010/main" val="1929081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AD598-C5F4-4D31-B513-C51DC443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B5B0A-62E4-41E7-9DB4-DC6CCE5C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运行闭环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692DA-FFE6-4E92-B0CC-875D7F8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从采图到追溯，完整闭环在同一条流程中完成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2B757-C5E5-4309-8074-ED7BE0C6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6D663-0A73-467F-9395-74E7EA0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A2E89-35B0-47D6-9A0B-96E8E374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06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98500-34AA-42F8-B8CB-C7C7B88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ED4DE-20CA-4C19-B7AA-F0D00F18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6599B-879B-4A0E-8091-F1E3301A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433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图像采集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C4B9A-7785-41B9-88F9-4A0817DA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24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B45AA-3EF4-4E1A-9452-7112EA8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1717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7165B-1BFC-4C3B-898D-ADB7BBCE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907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42D57-44D8-4670-96D3-CDC4B111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433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图像预处理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5C53B-8602-4B2C-9F5D-D11A886E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24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0DE9B-959D-4FF2-93AD-12B3899E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717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EBA25-50B4-446C-BDF6-BA63AE7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907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821C3-1B6A-4DF9-8C6A-33F6CD07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检测与测量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74D3B-D5E6-4F87-8C16-8A5BBE6C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24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46594-8A96-4296-BC90-CFAE6AF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717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1866D-C7C4-4298-A582-750CCD0B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907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36BDB-E725-4D80-8F1A-9E13101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逻辑判断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23E40-6BE1-435F-AF7B-4DBCD3B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24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7C962-E78A-44B4-869E-3C2B8CD7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717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6D5BF-2F27-4A10-A36C-7DA0677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907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50378-2484-4D59-A102-B9BB3527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设备通信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8C949-99A0-40D7-AE1A-2A09F0E5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24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93683-397F-4A90-8F01-2B9A6F49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9ECF0-EE0E-4B5F-9CCB-142E30D9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907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40F78-6152-4FA1-BB60-9903E62C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结果显示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20BA7-54BB-4E42-94E5-3002098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24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CB9CD-3C1E-42A3-B0F8-68B09A1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717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8EF0D-0A1D-4BD3-B2D2-964F23C2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907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985A5-FD02-408F-96FE-0D7FF63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433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保存与追溯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147D40-B740-4C35-B8A6-6539C3ED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9D3F17-A371-4C2E-9350-0CBBA156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5F4A"/>
                </a:solidFill>
              </a:defRPr>
            </a:pPr>
            <a:r>
              <a:rPr sz="1875" b="1">
                <a:solidFill>
                  <a:srgbClr val="0C5F4A"/>
                </a:solidFill>
              </a:rPr>
              <a:t>节点订阅传递图像与结果，流程调度负责顺序、分支、触发和停止。</a:t>
            </a:r>
          </a:p>
        </p:txBody>
      </p:sp>
    </p:spTree>
    <p:extLst>
      <p:ext uri="{BB962C8B-B14F-4D97-AF65-F5344CB8AC3E}">
        <p14:creationId xmlns:p14="http://schemas.microsoft.com/office/powerpoint/2010/main" val="1256938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C84097-F249-4A68-9CE0-B003D5DF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2CE77-B406-4030-95B8-BF759149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2D 工业相机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5B722-DB11-458F-BE51-78560BE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统一相机接口，兼顾厂商差异与现场触发方式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12B64-EBC9-4CF8-8FA0-8749B6D3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81E5B-2AF9-44AA-A551-0B750426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D06B5-4216-41AD-8786-0733C8F4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07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836AE-7AD2-4E05-8EA2-847BC964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C6BE"/>
                </a:solidFill>
              </a:defRPr>
            </a:pPr>
            <a:r>
              <a:rPr sz="4050" b="1">
                <a:solidFill>
                  <a:srgbClr val="25C6BE"/>
                </a:solidFill>
              </a:rPr>
              <a:t>4 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7EE5D-F478-4C13-B35E-3830C4F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代码中覆盖的厂商识别逻辑</a:t>
            </a:r>
          </a:p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海康 · Basler · 华睿 · 大华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1ad47ac9c4d0c"/>
          <a:stretch xmlns:a="http://schemas.openxmlformats.org/drawingml/2006/main"/>
        </p:blipFill>
        <p:spPr>
          <a:xfrm xmlns:a="http://schemas.openxmlformats.org/drawingml/2006/main">
            <a:off x="3333750" y="16764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A2DCA-5C01-447B-A8A5-F602FF4C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668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75E82-EAAC-462C-9E9A-B331BF71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24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9B62"/>
                </a:solidFill>
              </a:defRPr>
            </a:pPr>
            <a:r>
              <a:rPr sz="2175" b="1">
                <a:solidFill>
                  <a:srgbClr val="169B62"/>
                </a:solidFill>
              </a:rPr>
              <a:t>采集与触发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1E823-DBE6-49CD-A1FC-5A284C0F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1619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660DF-D9A2-477B-8430-E10F90D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81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连续取流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FC203-D3BF-4981-83E2-23D367EF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621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适合持续观察、调试和在线处理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37E17-6B2A-4156-B39E-DED464D4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1619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EE9B4-A4CF-42E7-8A15-28DFE969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718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软触发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C5E80-5FC6-40E6-9A7B-3D59EF5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527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由软件或流程节点发出一次采集命令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BF951-96D4-4F13-AD40-2D188F86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1619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6A78B-4C31-4BB9-9B76-DFE0B341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62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线路硬触发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4D69E-C0B9-4F86-A076-F2707B6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与传感器、PLC 或设备节拍同步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6C42B-BEB0-442C-B3A1-D28E09BD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9112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72"/>
                </a:solidFill>
              </a:defRPr>
            </a:pPr>
            <a:r>
              <a:rPr sz="1575" b="0">
                <a:solidFill>
                  <a:srgbClr val="5D7372"/>
                </a:solidFill>
              </a:rPr>
              <a:t>曝光、增益、触发源、触发沿、延时和超时等参数可随方案保存。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91EB79-12E2-424E-8B85-A22EB9F0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3C"/>
                </a:solidFill>
              </a:defRPr>
            </a:pPr>
            <a:r>
              <a:rPr sz="1200" b="1">
                <a:solidFill>
                  <a:srgbClr val="F05A3C"/>
                </a:solidFill>
              </a:rPr>
              <a:t>具体兼容型号以 SDK 版本和现场联调结果为准。</a:t>
            </a:r>
          </a:p>
        </p:txBody>
      </p:sp>
    </p:spTree>
    <p:extLst>
      <p:ext uri="{BB962C8B-B14F-4D97-AF65-F5344CB8AC3E}">
        <p14:creationId xmlns:p14="http://schemas.microsoft.com/office/powerpoint/2010/main" val="336708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78B9C-866C-44D9-8CDC-B23A5E2D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461AF-7FF8-48B6-B616-D5F7F0C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3D 视觉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21F67-B8B5-495E-89AE-938D871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深度图与点云，让检测从二维外观走向三维形貌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5D393-85D0-46AD-8C2A-66417524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01DD0-A5CB-40E2-8A21-2ABF62A2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FC0E9-C44D-4B4F-8962-EC45550F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08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D2E7E-A8F8-41DD-A65A-3BC2370F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5F4A"/>
                </a:solidFill>
              </a:defRPr>
            </a:pPr>
            <a:r>
              <a:rPr sz="2025" b="1">
                <a:solidFill>
                  <a:srgbClr val="0C5F4A"/>
                </a:solidFill>
              </a:rPr>
              <a:t>当前 3D 实现以海康线激光轮廓相机为主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2490A-4135-405D-970C-AB68B188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313AD-B232-448E-BC45-29E918EE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C6BE"/>
                </a:solidFill>
              </a:defRPr>
            </a:pPr>
            <a:r>
              <a:rPr sz="1800" b="1">
                <a:solidFill>
                  <a:srgbClr val="25C6BE"/>
                </a:solidFill>
              </a:rPr>
              <a:t>Origin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8F86A-688A-4685-88FA-14BDD378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原始数据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2B80F-DF78-4D43-AD2C-5D43C7C4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5D6C1-0E50-47D5-A1F3-58CF8AF6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955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B62"/>
                </a:solidFill>
              </a:defRPr>
            </a:pPr>
            <a:r>
              <a:rPr sz="1800" b="1">
                <a:solidFill>
                  <a:srgbClr val="169B62"/>
                </a:solidFill>
              </a:rPr>
              <a:t>Range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3BDF2-5EC9-41E2-8F9F-1DDCF244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765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深度/距离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6F0F1-946D-491D-9ABD-A380C352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68675-2563-4B6D-9E8D-B54D97DD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C6BE"/>
                </a:solidFill>
              </a:defRPr>
            </a:pPr>
            <a:r>
              <a:rPr sz="1800" b="1">
                <a:solidFill>
                  <a:srgbClr val="25C6BE"/>
                </a:solidFill>
              </a:rPr>
              <a:t>Intensity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740C5-E829-4BF0-AC4D-DAB25EF0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强度图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30C65-529B-4E02-893A-52C4F537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9090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808DB-3306-4E1E-BBC3-7C084805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5282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B62"/>
                </a:solidFill>
              </a:defRPr>
            </a:pPr>
            <a:r>
              <a:rPr sz="1800" b="1">
                <a:solidFill>
                  <a:srgbClr val="169B62"/>
                </a:solidFill>
              </a:rPr>
              <a:t>Point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0BB89-873A-4EB6-990E-2BADE5F7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338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三维点云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EFA90-E86A-437A-B202-F829DA0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61CB4-23E8-49BF-8A39-D883476D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19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9B62"/>
                </a:solidFill>
              </a:defRPr>
            </a:pPr>
            <a:r>
              <a:rPr sz="2175" b="1">
                <a:solidFill>
                  <a:srgbClr val="169B62"/>
                </a:solidFill>
              </a:rPr>
              <a:t>典型应用方向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0622D-4838-4702-A087-8B29ACF4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182EB-8BDE-425F-B5C9-6DE4E571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2A"/>
                </a:solidFill>
              </a:defRPr>
            </a:pPr>
            <a:r>
              <a:rPr sz="1725" b="0">
                <a:solidFill>
                  <a:srgbClr val="102A2A"/>
                </a:solidFill>
              </a:rPr>
              <a:t>高度差与台阶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F0D58-2094-4A91-869D-578A3B3E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8D4FD-637F-4A9A-92CF-791C9DC2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2A"/>
                </a:solidFill>
              </a:defRPr>
            </a:pPr>
            <a:r>
              <a:rPr sz="1725" b="0">
                <a:solidFill>
                  <a:srgbClr val="102A2A"/>
                </a:solidFill>
              </a:rPr>
              <a:t>轮廓与缺口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7AEA1-0F89-4869-8338-568BBC2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07BFB-B198-4797-9D0B-051C2D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2A"/>
                </a:solidFill>
              </a:defRPr>
            </a:pPr>
            <a:r>
              <a:rPr sz="1725" b="0">
                <a:solidFill>
                  <a:srgbClr val="102A2A"/>
                </a:solidFill>
              </a:rPr>
              <a:t>平面度与翘曲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1043E-8C86-4CD1-9CC6-206C66BA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FBA94D-4E9C-4719-A29E-83754536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2A"/>
                </a:solidFill>
              </a:defRPr>
            </a:pPr>
            <a:r>
              <a:rPr sz="1725" b="0">
                <a:solidFill>
                  <a:srgbClr val="102A2A"/>
                </a:solidFill>
              </a:rPr>
              <a:t>体积与形貌异常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A1A957-3010-4BE5-934C-079CDBC6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57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3C"/>
                </a:solidFill>
              </a:defRPr>
            </a:pPr>
            <a:r>
              <a:rPr sz="1275" b="1">
                <a:solidFill>
                  <a:srgbClr val="F05A3C"/>
                </a:solidFill>
              </a:rPr>
              <a:t>精度取决于相机、光学、标定、安装和现场条件。</a:t>
            </a:r>
          </a:p>
        </p:txBody>
      </p:sp>
    </p:spTree>
    <p:extLst>
      <p:ext uri="{BB962C8B-B14F-4D97-AF65-F5344CB8AC3E}">
        <p14:creationId xmlns:p14="http://schemas.microsoft.com/office/powerpoint/2010/main" val="2037868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D9839F-195D-4B73-A086-471FF5F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623A-E06C-4D5D-BD84-8323795F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设备管理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B6262-2EFA-4E67-AEF4-4A199C45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相机、光源和控制器统一纳入方案生命周期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C6ACF-4B6F-49ED-8015-D9B76CBC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62A1D-6513-4F26-BB97-81A8C00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D8D55-DCD5-419A-B87A-82297EE1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09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E213E-3397-43AD-8FEF-0356977D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6ceaa655a4b1e"/>
          <a:stretch xmlns:a="http://schemas.openxmlformats.org/drawingml/2006/main"/>
        </p:blipFill>
        <p:spPr>
          <a:xfrm xmlns:a="http://schemas.openxmlformats.org/drawingml/2006/main">
            <a:off x="742950" y="1676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B2056-91E3-4F70-9F30-F6014C22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573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B62"/>
                </a:solidFill>
              </a:defRPr>
            </a:pPr>
            <a:r>
              <a:rPr sz="1800" b="1">
                <a:solidFill>
                  <a:srgbClr val="169B62"/>
                </a:solidFill>
              </a:rPr>
              <a:t>2D/3D 相机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4AAC7-FE44-46F2-A0B9-79CAF22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枚举、连接、取流、触发与参数保存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A5038-6D4C-47E2-8E6F-9E0BB23D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17b421aaf47e8"/>
          <a:stretch xmlns:a="http://schemas.openxmlformats.org/drawingml/2006/main"/>
        </p:blipFill>
        <p:spPr>
          <a:xfrm xmlns:a="http://schemas.openxmlformats.org/drawingml/2006/main">
            <a:off x="4457700" y="1676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2D9BE-5D35-4F4A-A625-17D5B80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C6BE"/>
                </a:solidFill>
              </a:defRPr>
            </a:pPr>
            <a:r>
              <a:rPr sz="1800" b="1">
                <a:solidFill>
                  <a:srgbClr val="25C6BE"/>
                </a:solidFill>
              </a:rPr>
              <a:t>光源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633E5-1320-4C3F-BBE0-4A6B207D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多品牌控制实现，随流程开关与调节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62729-DAC9-4CEF-BE6E-9CE71BB0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668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76324d474a2c"/>
          <a:stretch xmlns:a="http://schemas.openxmlformats.org/drawingml/2006/main"/>
        </p:blipFill>
        <p:spPr>
          <a:xfrm xmlns:a="http://schemas.openxmlformats.org/drawingml/2006/main">
            <a:off x="8172450" y="1676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6F8B9-D175-4D88-B340-4307E76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B62"/>
                </a:solidFill>
              </a:defRPr>
            </a:pPr>
            <a:r>
              <a:rPr sz="1800" b="1">
                <a:solidFill>
                  <a:srgbClr val="169B62"/>
                </a:solidFill>
              </a:rPr>
              <a:t>PLC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36A85-26D6-4AA3-8582-C59E3204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三菱、松下读写与软触发监听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80403-24BA-4541-90F3-98FD254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750525a9e415d"/>
          <a:stretch xmlns:a="http://schemas.openxmlformats.org/drawingml/2006/main"/>
        </p:blipFill>
        <p:spPr>
          <a:xfrm xmlns:a="http://schemas.openxmlformats.org/drawingml/2006/main">
            <a:off x="742950" y="3372394"/>
            <a:ext cx="457200" cy="418011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50217-2749-43A6-ACB5-5ADDD64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C6BE"/>
                </a:solidFill>
              </a:defRPr>
            </a:pPr>
            <a:r>
              <a:rPr sz="1800" b="1">
                <a:solidFill>
                  <a:srgbClr val="25C6BE"/>
                </a:solidFill>
              </a:rPr>
              <a:t>Modbus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F2AC1-B4EA-42CA-8530-BFAA426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RTU/TCP 主站与 TCP 从站能力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8C2B0-AEF1-46BD-8A5F-EB526046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4498d15c74832"/>
          <a:stretch xmlns:a="http://schemas.openxmlformats.org/drawingml/2006/main"/>
        </p:blipFill>
        <p:spPr>
          <a:xfrm xmlns:a="http://schemas.openxmlformats.org/drawingml/2006/main">
            <a:off x="4457700" y="3352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843E9-B4EB-479B-A095-8FE3A4CE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B62"/>
                </a:solidFill>
              </a:defRPr>
            </a:pPr>
            <a:r>
              <a:rPr sz="1800" b="1">
                <a:solidFill>
                  <a:srgbClr val="169B62"/>
                </a:solidFill>
              </a:rPr>
              <a:t>TCP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6B530-97C0-40DA-899C-92D1FFD6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客户端请求与服务器响应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FAB5C-775F-4D16-A667-302FB60B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c379f76a64820"/>
          <a:stretch xmlns:a="http://schemas.openxmlformats.org/drawingml/2006/main"/>
        </p:blipFill>
        <p:spPr>
          <a:xfrm xmlns:a="http://schemas.openxmlformats.org/drawingml/2006/main">
            <a:off x="8172450" y="3352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6DDE6-0AD1-44AD-BB61-8D699CE6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C6BE"/>
                </a:solidFill>
              </a:defRPr>
            </a:pPr>
            <a:r>
              <a:rPr sz="1800" b="1">
                <a:solidFill>
                  <a:srgbClr val="25C6BE"/>
                </a:solidFill>
              </a:rPr>
              <a:t>串口 / I/O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66539-A336-4AAF-974A-09EDFEE0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COM 发送、相机 I/O 与科锐 I/O 模块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F8F6F-266C-4937-9C8E-4C50291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C5F4A"/>
                </a:solidFill>
              </a:defRPr>
            </a:pPr>
            <a:r>
              <a:rPr sz="1800" b="1">
                <a:solidFill>
                  <a:srgbClr val="0C5F4A"/>
                </a:solidFill>
              </a:rPr>
              <a:t>方案切换和软件退出时统一释放设备与模型资源，降低长期运行风险。</a:t>
            </a:r>
          </a:p>
        </p:txBody>
      </p:sp>
    </p:spTree>
    <p:extLst>
      <p:ext uri="{BB962C8B-B14F-4D97-AF65-F5344CB8AC3E}">
        <p14:creationId xmlns:p14="http://schemas.microsoft.com/office/powerpoint/2010/main" val="378099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3FC36F-AB9B-4602-8B85-113D477C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79541-4C9D-419E-A0F7-03C23F63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现场通信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5D6EF-7CF8-42F0-807A-238EE47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多协议通信把视觉结果接入真实生产节拍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97260-8263-4F4E-808E-9BC0B15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BA571-1CA1-449A-A59D-A3BD6F45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AFB76-60F6-43A9-AFD5-80B132F2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10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8F394-C2B5-457E-B35F-552C9852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9B62"/>
                </a:solidFill>
              </a:defRPr>
            </a:pPr>
            <a:r>
              <a:rPr sz="2025" b="1">
                <a:solidFill>
                  <a:srgbClr val="169B62"/>
                </a:solidFill>
              </a:rPr>
              <a:t>流程节点层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74CDE-B8F8-455D-B9E5-681B29B4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A8966-F78D-4ACD-97D0-69AA6069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PLC 读取/写入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9D6E4-9EDA-4E57-8A7F-F155DB97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9A7A1-CA6F-4CB2-A529-892D8DD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812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Modbus 读取/写入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2927F-CAE6-470E-9485-650BB38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1455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5D2E2-A22A-4A25-86A9-F3572824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812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TCP 请求/响应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02D43-55F8-42E3-ABE0-FB5FF2A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F23B6-49B6-4577-BF7C-F33CF656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串口发送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A56BF-97AE-47BF-B140-4DA9C90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E0615-4F2C-4648-BD07-B4F66B1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相机 I/O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8E9AD-EE8D-45CE-9ABA-FD6111E9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3845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1B8A2-E08C-4966-A857-AD2F86E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05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软触发监听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B8FCD-1C2E-4DD5-9ACD-EE705E6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69B62"/>
                </a:solidFill>
              </a:defRPr>
            </a:pPr>
            <a:r>
              <a:rPr sz="3600" b="1">
                <a:solidFill>
                  <a:srgbClr val="169B62"/>
                </a:solidFill>
              </a:rPr>
              <a:t>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6AFE7-CF79-43D7-8FF0-8F2E3F7C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DDBE9-C394-489C-9DE9-DEB42B0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C5F4A"/>
                </a:solidFill>
              </a:defRPr>
            </a:pPr>
            <a:r>
              <a:rPr sz="2025" b="1">
                <a:solidFill>
                  <a:srgbClr val="0C5F4A"/>
                </a:solidFill>
              </a:rPr>
              <a:t>现场设备层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1A61F-E01F-4200-BD95-FD6E48D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D1304-13F8-4416-9CEA-1E41903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2A"/>
                </a:solidFill>
              </a:defRPr>
            </a:pPr>
            <a:r>
              <a:rPr sz="1425" b="0">
                <a:solidFill>
                  <a:srgbClr val="102A2A"/>
                </a:solidFill>
              </a:rPr>
              <a:t>PLC / 运动控制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B162D-0C37-4EAD-832E-7645E9AD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59977-59FD-4CF0-95E9-8EDED199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2A"/>
                </a:solidFill>
              </a:defRPr>
            </a:pPr>
            <a:r>
              <a:rPr sz="1425" b="0">
                <a:solidFill>
                  <a:srgbClr val="102A2A"/>
                </a:solidFill>
              </a:rPr>
              <a:t>传感器 / I/O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31B54-7E9A-4D7F-835D-E4DCE8F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A3852-DC02-42DA-94A2-D5FD82D8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480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2A"/>
                </a:solidFill>
              </a:defRPr>
            </a:pPr>
            <a:r>
              <a:rPr sz="1425" b="0">
                <a:solidFill>
                  <a:srgbClr val="102A2A"/>
                </a:solidFill>
              </a:rPr>
              <a:t>机器人 / 上位机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32C4D-0EE1-4EBB-88E8-7489B910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61866B-2986-4120-B257-A9CA869A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2A"/>
                </a:solidFill>
              </a:defRPr>
            </a:pPr>
            <a:r>
              <a:rPr sz="1425" b="0">
                <a:solidFill>
                  <a:srgbClr val="102A2A"/>
                </a:solidFill>
              </a:rPr>
              <a:t>MES / 数据系统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D0420-14D8-4F62-88CB-7E8DF275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906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EEE9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0C3556-823B-4B44-AC12-F80A001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C5F4A"/>
                </a:solidFill>
              </a:defRPr>
            </a:pPr>
            <a:r>
              <a:rPr sz="1800" b="1">
                <a:solidFill>
                  <a:srgbClr val="0C5F4A"/>
                </a:solidFill>
              </a:rPr>
              <a:t>检测结果不仅显示在屏幕上，还能成为设备动作、分拣、报警和数据追溯的输入。</a:t>
            </a:r>
          </a:p>
        </p:txBody>
      </p:sp>
    </p:spTree>
    <p:extLst>
      <p:ext uri="{BB962C8B-B14F-4D97-AF65-F5344CB8AC3E}">
        <p14:creationId xmlns:p14="http://schemas.microsoft.com/office/powerpoint/2010/main" val="2134705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3E29D-94A7-41E0-B23D-F69B1CA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4E2D2-0258-4522-A187-5A1C5F46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图像预处理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EC3C3-E2A6-43A4-804C-04D1CCB9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标准化图像输入，为稳定检测建立第一道防线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D10EF-A4CE-4C0E-BB66-9BDE1452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B9E9C-AC7A-4890-87FA-54950281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774A3-7719-4F52-93B3-8D899A95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11 / 23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3241cc1ea4b84"/>
          <a:stretch xmlns:a="http://schemas.openxmlformats.org/drawingml/2006/main"/>
        </p:blipFill>
        <p:spPr>
          <a:xfrm xmlns:a="http://schemas.openxmlformats.org/drawingml/2006/main">
            <a:off x="1390650" y="16764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EF097-6DD5-45CA-BA4C-E8A9D1D0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9B62"/>
                </a:solidFill>
              </a:defRPr>
            </a:pPr>
            <a:r>
              <a:rPr sz="1875" b="1">
                <a:solidFill>
                  <a:srgbClr val="169B62"/>
                </a:solidFill>
              </a:rPr>
              <a:t>图像裁剪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67126-2140-4A4B-A695-85A8E96B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聚焦有效区域，减少计算量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8AEDE-869C-4A92-A983-C88A016C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35510129b42ef"/>
          <a:stretch xmlns:a="http://schemas.openxmlformats.org/drawingml/2006/main"/>
        </p:blipFill>
        <p:spPr>
          <a:xfrm xmlns:a="http://schemas.openxmlformats.org/drawingml/2006/main">
            <a:off x="4191000" y="1714500"/>
            <a:ext cx="685800" cy="609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EEE22-3124-4C6D-AD25-45C26FB1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C6BE"/>
                </a:solidFill>
              </a:defRPr>
            </a:pPr>
            <a:r>
              <a:rPr sz="1875" b="1">
                <a:solidFill>
                  <a:srgbClr val="25C6BE"/>
                </a:solidFill>
              </a:rPr>
              <a:t>图像旋转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6CDE0-E831-43CD-9F19-130A08B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0515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统一方向与坐标基准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72A48-3C7E-4D99-98E1-6D7F511E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81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a6d128f494f54"/>
          <a:stretch xmlns:a="http://schemas.openxmlformats.org/drawingml/2006/main"/>
        </p:blipFill>
        <p:spPr>
          <a:xfrm xmlns:a="http://schemas.openxmlformats.org/drawingml/2006/main">
            <a:off x="6991350" y="16764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4AD91-8D4A-41B0-9C28-5A71686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9B62"/>
                </a:solidFill>
              </a:defRPr>
            </a:pPr>
            <a:r>
              <a:rPr sz="1875" b="1">
                <a:solidFill>
                  <a:srgbClr val="169B62"/>
                </a:solidFill>
              </a:rPr>
              <a:t>图像分割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F5A53-D287-4D30-B90B-D485D3A4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拆分多区域或多工位图像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0BCC2-CC7B-4834-9423-2B654CE6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8e0b8321e4e15"/>
          <a:stretch xmlns:a="http://schemas.openxmlformats.org/drawingml/2006/main"/>
        </p:blipFill>
        <p:spPr>
          <a:xfrm xmlns:a="http://schemas.openxmlformats.org/drawingml/2006/main">
            <a:off x="9791700" y="16764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F1CC5-C29A-4A8C-89A4-935A7FED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C6BE"/>
                </a:solidFill>
              </a:defRPr>
            </a:pPr>
            <a:r>
              <a:rPr sz="1875" b="1">
                <a:solidFill>
                  <a:srgbClr val="25C6BE"/>
                </a:solidFill>
              </a:rPr>
              <a:t>综合预处理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DD01A-4F27-46CF-8DD8-B6FBE7BE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灰度、阈值、滤波等组合处理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DEC9A-FBAD-4BCC-8FAB-124DFF7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20534-7214-451E-8824-3A647AD6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5F4A"/>
                </a:solidFill>
              </a:defRPr>
            </a:pPr>
            <a:r>
              <a:rPr sz="1875" b="1">
                <a:solidFill>
                  <a:srgbClr val="0C5F4A"/>
                </a:solidFill>
              </a:rPr>
              <a:t>预处理节点可以单独调参、复用和订阅上游图像，便于逐段验证图像质量。</a:t>
            </a:r>
          </a:p>
        </p:txBody>
      </p:sp>
    </p:spTree>
    <p:extLst>
      <p:ext uri="{BB962C8B-B14F-4D97-AF65-F5344CB8AC3E}">
        <p14:creationId xmlns:p14="http://schemas.microsoft.com/office/powerpoint/2010/main" val="19124971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19FCFD-D8A1-476C-B078-76B3BE17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94178-D113-4B3E-9E23-EDAEF959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检测与识别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C56EF-B7FF-4DFD-A66C-84D6AA75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传统视觉覆盖高确定性、可解释的检测任务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C2BEC-4EE9-4294-B66B-23C2FC2C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B7284-BEBA-4BB6-A953-941DE882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936EA-8443-4C75-9401-2EFB6CE8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12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B47B8-C936-4D28-B06E-C2D953A4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0ed892e6444ce"/>
          <a:stretch xmlns:a="http://schemas.openxmlformats.org/drawingml/2006/main"/>
        </p:blipFill>
        <p:spPr>
          <a:xfrm xmlns:a="http://schemas.openxmlformats.org/drawingml/2006/main">
            <a:off x="813404" y="1562100"/>
            <a:ext cx="4773992" cy="3924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22C52-F34F-4889-BA9B-ED8AFA0E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7372"/>
                </a:solidFill>
              </a:defRPr>
            </a:pPr>
            <a:r>
              <a:rPr sz="1125" b="0">
                <a:solidFill>
                  <a:srgbClr val="5D7372"/>
                </a:solidFill>
              </a:rPr>
              <a:t>项目内置圆检测算子示例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F5515-6B4D-470B-AF61-3FFC51B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9B62"/>
                </a:solidFill>
              </a:defRPr>
            </a:pPr>
            <a:r>
              <a:rPr sz="2175" b="1">
                <a:solidFill>
                  <a:srgbClr val="169B62"/>
                </a:solidFill>
              </a:rPr>
              <a:t>现有检测节点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56D99-D370-4121-8B95-94CF86A3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51F4B-C55D-44A9-BB4F-15F5954D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2A"/>
                </a:solidFill>
              </a:defRPr>
            </a:pPr>
            <a:r>
              <a:rPr sz="1650" b="0">
                <a:solidFill>
                  <a:srgbClr val="102A2A"/>
                </a:solidFill>
              </a:rPr>
              <a:t>直线检测 / 圆检测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6AC86-D9F0-445B-976A-4371FF3D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67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626DD-7A3F-404D-BD66-C5720C8C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2A"/>
                </a:solidFill>
              </a:defRPr>
            </a:pPr>
            <a:r>
              <a:rPr sz="1650" b="0">
                <a:solidFill>
                  <a:srgbClr val="102A2A"/>
                </a:solidFill>
              </a:rPr>
              <a:t>模板匹配 / 位置定位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B4AEB-7693-4A23-85E4-F257CA61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16F88-DAC7-4FEE-8F01-774EA2A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2A"/>
                </a:solidFill>
              </a:defRPr>
            </a:pPr>
            <a:r>
              <a:rPr sz="1650" b="0">
                <a:solidFill>
                  <a:srgbClr val="102A2A"/>
                </a:solidFill>
              </a:rPr>
              <a:t>二维码识别 / 颜色识别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B7805-CD56-47D5-948F-F24D901F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761FF-3D00-47A1-B79D-AA4778A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2A"/>
                </a:solidFill>
              </a:defRPr>
            </a:pPr>
            <a:r>
              <a:rPr sz="1650" b="0">
                <a:solidFill>
                  <a:srgbClr val="102A2A"/>
                </a:solidFill>
              </a:rPr>
              <a:t>二值化分析 / Blob 类分析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BCF41-2F87-47FB-B5F5-EFC398F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A8931-7F63-4EE3-B304-CC2E5414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2A"/>
                </a:solidFill>
              </a:defRPr>
            </a:pPr>
            <a:r>
              <a:rPr sz="1650" b="0">
                <a:solidFill>
                  <a:srgbClr val="102A2A"/>
                </a:solidFill>
              </a:rPr>
              <a:t>电池极耳专用检测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AED77-6721-4128-B838-03379AB7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5F4A"/>
                </a:solidFill>
              </a:defRPr>
            </a:pPr>
            <a:r>
              <a:rPr sz="1575" b="1">
                <a:solidFill>
                  <a:srgbClr val="0C5F4A"/>
                </a:solidFill>
              </a:rPr>
              <a:t>特点：规则明确、结果可解释、调试路径清晰。</a:t>
            </a:r>
          </a:p>
        </p:txBody>
      </p:sp>
    </p:spTree>
    <p:extLst>
      <p:ext uri="{BB962C8B-B14F-4D97-AF65-F5344CB8AC3E}">
        <p14:creationId xmlns:p14="http://schemas.microsoft.com/office/powerpoint/2010/main" val="10775174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F0A02-6A1A-4339-A03D-B14914C3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CB512-9007-463F-9644-47CC8848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尺寸测量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6CE6A-8129-4805-94FD-61C7482B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卡尺与几何关系，构建可追溯的精密测量链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C1D14-5EAD-4E63-8C77-C86313B4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78619-79D4-4551-B319-24D2508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745A-96C8-4CFF-A2BD-91143950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13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ABA89-7E60-4222-B36D-81D20C5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362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E908C-CD7C-44B4-8C76-B77DB44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B62"/>
                </a:solidFill>
              </a:defRPr>
            </a:pPr>
            <a:r>
              <a:rPr sz="1800" b="1">
                <a:solidFill>
                  <a:srgbClr val="169B6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2E7C6-CFE0-43C6-8EBF-122122CF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2A"/>
                </a:solidFill>
              </a:defRPr>
            </a:pPr>
            <a:r>
              <a:rPr sz="1950" b="1">
                <a:solidFill>
                  <a:srgbClr val="102A2A"/>
                </a:solidFill>
              </a:rPr>
              <a:t>特征提取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61500-DCCA-4B09-B868-8112B10B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卡尺找线 · 找圆 · 找椭圆 · 找点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6A23C-EDFC-4DC2-8CEC-142F038C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0F6D7-1C98-41DF-99F7-B5980FB1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0"/>
            <a:ext cx="2362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2F7F6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6A70B-4AF1-4C0E-AF9C-24223210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C6BE"/>
                </a:solidFill>
              </a:defRPr>
            </a:pPr>
            <a:r>
              <a:rPr sz="1800" b="1">
                <a:solidFill>
                  <a:srgbClr val="25C6BE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A21C7-7FF3-4054-A86E-771C9DF8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2A"/>
                </a:solidFill>
              </a:defRPr>
            </a:pPr>
            <a:r>
              <a:rPr sz="1950" b="1">
                <a:solidFill>
                  <a:srgbClr val="102A2A"/>
                </a:solidFill>
              </a:rPr>
              <a:t>基准修正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6F731-D7BE-42F0-B47C-E96EF575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位置修正 · 线组合拟合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EEAE3-455E-416F-8250-1B4D3F7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E20E2-99DE-4B74-B0FF-26CC6FC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362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61F61-A3D9-41E1-BB89-AB6F7993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9B62"/>
                </a:solidFill>
              </a:defRPr>
            </a:pPr>
            <a:r>
              <a:rPr sz="1800" b="1">
                <a:solidFill>
                  <a:srgbClr val="169B62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0390B-B770-47B3-865C-3E32C7A6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2A"/>
                </a:solidFill>
              </a:defRPr>
            </a:pPr>
            <a:r>
              <a:rPr sz="1950" b="1">
                <a:solidFill>
                  <a:srgbClr val="102A2A"/>
                </a:solidFill>
              </a:rPr>
              <a:t>几何计算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56E0A-6085-4CC2-91FC-6272822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距离 · 角度 · 区域关系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8CDEB-6CBB-4243-9086-372F9663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2A585-E383-4A40-AB8F-C46B4969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14500"/>
            <a:ext cx="2362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2F7F6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C01C1-4F69-4DCE-B1B1-DE3F289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859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C6BE"/>
                </a:solidFill>
              </a:defRPr>
            </a:pPr>
            <a:r>
              <a:rPr sz="1800" b="1">
                <a:solidFill>
                  <a:srgbClr val="25C6BE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B1D62-0FEC-47B7-804F-C092DBC3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2A"/>
                </a:solidFill>
              </a:defRPr>
            </a:pPr>
            <a:r>
              <a:rPr sz="1950" b="1">
                <a:solidFill>
                  <a:srgbClr val="102A2A"/>
                </a:solidFill>
              </a:rPr>
              <a:t>公差判断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E73E4-9512-4B12-AD8C-309DDC49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结果汇总 · OK/NG · 通信输出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15503-429F-43AD-9A57-F2068699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9B62"/>
                </a:solidFill>
              </a:defRPr>
            </a:pPr>
            <a:r>
              <a:rPr sz="4050" b="1">
                <a:solidFill>
                  <a:srgbClr val="169B62"/>
                </a:solidFill>
              </a:rPr>
              <a:t>9+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563DA-3294-4F8F-AD11-D0072FC3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测量与几何节点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BAF7A-D05F-464D-850D-430831D9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C6BE"/>
                </a:solidFill>
              </a:defRPr>
            </a:pPr>
            <a:r>
              <a:rPr sz="4050" b="1">
                <a:solidFill>
                  <a:srgbClr val="25C6BE"/>
                </a:solidFill>
              </a:rPr>
              <a:t>可组合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D0567-1A31-415D-9271-2330D865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815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多特征、多基准、多公差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A9F3D-F087-4E04-B2A3-374382D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C5F4A"/>
                </a:solidFill>
              </a:defRPr>
            </a:pPr>
            <a:r>
              <a:rPr sz="4050" b="1">
                <a:solidFill>
                  <a:srgbClr val="0C5F4A"/>
                </a:solidFill>
              </a:rPr>
              <a:t>可追溯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0E7119-A49B-4A05-A812-3E7E4FB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原图、结果图、数值与统计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8305C4-6805-4131-885C-63B45492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5A3C"/>
                </a:solidFill>
              </a:defRPr>
            </a:pPr>
            <a:r>
              <a:rPr sz="1275" b="1">
                <a:solidFill>
                  <a:srgbClr val="F05A3C"/>
                </a:solidFill>
              </a:rPr>
              <a:t>最终测量精度由成像、标定、机械稳定性和算法参数共同决定。</a:t>
            </a:r>
          </a:p>
        </p:txBody>
      </p:sp>
    </p:spTree>
    <p:extLst>
      <p:ext uri="{BB962C8B-B14F-4D97-AF65-F5344CB8AC3E}">
        <p14:creationId xmlns:p14="http://schemas.microsoft.com/office/powerpoint/2010/main" val="18400616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AE6DB-CB49-4EBA-B07C-5AA862C9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35FE8-1D6B-4699-880B-72D33B28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深度学习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4BFB1-2405-4EDA-80B4-A30A7DC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四类 AI 模型，覆盖复杂目标的检测、形状与姿态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7716C-1735-4141-BFAD-FE14C08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13B7C-EF9D-4D34-935B-18A3BC13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70952-333C-42F8-92E9-97CD766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14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5F2F6-9FB0-4FDA-8C34-6FB6B35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DFBB7-D166-4933-B670-F75C373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69B62"/>
                </a:solidFill>
              </a:defRPr>
            </a:pPr>
            <a:r>
              <a:rPr sz="3525" b="1">
                <a:solidFill>
                  <a:srgbClr val="169B62"/>
                </a:solidFill>
              </a:rPr>
              <a:t>DET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67BC3-ACF9-4B0B-9FA6-C8A2153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目标检测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5438B-EA98-44D7-8FF5-45564DAD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575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ACA7E-6B3E-4270-8ABE-2D215088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类别 + 矩形框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4B9EF-208A-4838-BE3A-19625BFB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19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EFC78-9CAD-4355-9111-AC6B41E2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25C6BE"/>
                </a:solidFill>
              </a:defRPr>
            </a:pPr>
            <a:r>
              <a:rPr sz="3525" b="1">
                <a:solidFill>
                  <a:srgbClr val="25C6BE"/>
                </a:solidFill>
              </a:rPr>
              <a:t>OBB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64C32-1E84-4B00-A06F-7649B68F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旋转目标检测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D0729-0459-4F77-9776-B7BF8503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575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488F6-9CF9-49D8-939D-A8F26769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类别 + 旋转框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232A3-660F-44CC-A0DE-BE5F93C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627DE-4EB7-423F-866C-E7D35B5F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69B62"/>
                </a:solidFill>
              </a:defRPr>
            </a:pPr>
            <a:r>
              <a:rPr sz="3525" b="1">
                <a:solidFill>
                  <a:srgbClr val="169B62"/>
                </a:solidFill>
              </a:rPr>
              <a:t>SEG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8523D-C97A-476D-873A-FF36FB5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实例分割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A4392-E4DF-412F-A135-23FC28D0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30A2F-DF4E-4E82-AEEB-3210DBED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类别 + 像素轮廓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23C4D-188B-4B1E-A1C3-5AA80BA5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19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FCBD2-B487-46F0-9AE5-27CB9C83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25C6BE"/>
                </a:solidFill>
              </a:defRPr>
            </a:pPr>
            <a:r>
              <a:rPr sz="3525" b="1">
                <a:solidFill>
                  <a:srgbClr val="25C6BE"/>
                </a:solidFill>
              </a:rPr>
              <a:t>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77608-9C76-4B34-85F3-D828987E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24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姿态检测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76A012-ECE7-4BDA-BF09-7D1A80F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575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2C81A-16BF-4CE1-87F9-1EA165CC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类别 + 关键点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6EB76-B534-4E2A-91D5-4FEEB2F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5F4A"/>
                </a:solidFill>
              </a:defRPr>
            </a:pPr>
            <a:r>
              <a:rPr sz="1875" b="1">
                <a:solidFill>
                  <a:srgbClr val="0C5F4A"/>
                </a:solidFill>
              </a:rPr>
              <a:t>模型运行封装支持 TensorRT / OpenVINO 相关推理路径，并通过统一结果结构进入后续绘制与判断。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03584-1FC4-4575-B550-09820CE6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5A3C"/>
                </a:solidFill>
              </a:defRPr>
            </a:pPr>
            <a:r>
              <a:rPr sz="1275" b="1">
                <a:solidFill>
                  <a:srgbClr val="F05A3C"/>
                </a:solidFill>
              </a:rPr>
              <a:t>模型效果依赖训练数据、标注质量、部署硬件和现场分布。</a:t>
            </a:r>
          </a:p>
        </p:txBody>
      </p:sp>
    </p:spTree>
    <p:extLst>
      <p:ext uri="{BB962C8B-B14F-4D97-AF65-F5344CB8AC3E}">
        <p14:creationId xmlns:p14="http://schemas.microsoft.com/office/powerpoint/2010/main" val="3973725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28CA2-7487-4FDD-90AC-D78C5A18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E2E38-3500-446B-9015-5024BE33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新型 AI 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ADDFF-5532-4A59-BDE8-2839FB6D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无监督检测降低异常样本门槛，大模型扩展分析边界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62A5B-D0FA-4438-BFF6-41A6C3A1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E3351-3073-4A32-82B9-A3CA6422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FFA3F-5629-4E44-B8E1-5518C138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15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4A6D7-6417-4924-B935-7492D6FB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19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A6C4E-E151-4D4C-8185-C5173BA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9B62"/>
                </a:solidFill>
              </a:defRPr>
            </a:pPr>
            <a:r>
              <a:rPr sz="2400" b="1">
                <a:solidFill>
                  <a:srgbClr val="169B62"/>
                </a:solidFill>
              </a:rPr>
              <a:t>无监督缺陷检测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3D9A6-3B34-48F7-9153-CE9BD95E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2A"/>
                </a:solidFill>
              </a:defRPr>
            </a:pPr>
            <a:r>
              <a:rPr sz="1725" b="0">
                <a:solidFill>
                  <a:srgbClr val="102A2A"/>
                </a:solidFill>
              </a:rPr>
              <a:t>适合缺陷种类多、异常样本难收集的表面检测任务。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27FE-5764-46DE-BC9F-2A27B42E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5D66D-42D2-4CF0-B33F-4CACBF48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以正常样本建立特征分布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1D83D-FDBC-43AF-A675-970E6EA8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1FE76-2606-4E4C-A508-1B4E5D2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输出异常区域与异常分数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0EADE-05FF-4B70-BCD4-CA2870FC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93B8D-CAB9-4E46-978C-BE30E4ED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支持训练界面和运行节点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E7F52-9239-49D7-8F60-2D98F1BF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5638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39FE0-BCCF-45E1-9F39-B02CC900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C6BE"/>
                </a:solidFill>
              </a:defRPr>
            </a:pPr>
            <a:r>
              <a:rPr sz="2400" b="1">
                <a:solidFill>
                  <a:srgbClr val="25C6BE"/>
                </a:solidFill>
              </a:rPr>
              <a:t>大模型辅助分析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2FEAA-6AC6-44CA-9FE4-EA1370DD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2A"/>
                </a:solidFill>
              </a:defRPr>
            </a:pPr>
            <a:r>
              <a:rPr sz="1725" b="0">
                <a:solidFill>
                  <a:srgbClr val="102A2A"/>
                </a:solidFill>
              </a:rPr>
              <a:t>适合规则解释、文本化分析和受控的业务辅助场景。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1517B-6E47-4617-BC47-32459C40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D7D84-3E49-4353-A8BC-2253B733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节点化调用与配置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F958D-409B-4F8A-816D-E2B24EE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62325-3623-4CC4-9385-3C4BB75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可与传统视觉和 AI 结果组合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70FAC-A50B-4CB5-9320-CCC2CBA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0A58B-5EC7-4218-84B7-F8558095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2A"/>
                </a:solidFill>
              </a:defRPr>
            </a:pPr>
            <a:r>
              <a:rPr sz="1500" b="0">
                <a:solidFill>
                  <a:srgbClr val="102A2A"/>
                </a:solidFill>
              </a:rPr>
              <a:t>关键生产判定应保留可验证规则</a:t>
            </a:r>
          </a:p>
        </p:txBody>
      </p:sp>
    </p:spTree>
    <p:extLst>
      <p:ext uri="{BB962C8B-B14F-4D97-AF65-F5344CB8AC3E}">
        <p14:creationId xmlns:p14="http://schemas.microsoft.com/office/powerpoint/2010/main" val="17371023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E13AFA-EBB8-4AD2-BE40-8F2BDE8B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84F16-E4D5-474D-8396-77E5FB63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流程搭建示意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4169A-557C-4B71-BCC4-D043626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拖拽、连线、调参，把检测思路直接变成可运行流程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60DED-68AE-4DAA-8438-7DEEC48E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D0446-5838-4A4F-9863-4DC924BB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DAE09-1539-4DB1-ABFA-FE43532B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16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1C526-069A-4587-B2D7-EB078402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05050"/>
            <a:ext cx="18669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9F9F5-8ECD-4AD7-966F-F12100F1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05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CA744-9849-4033-B113-8231C76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图像源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F48DD-2389-40DA-86B5-9E85A1CB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372"/>
                </a:solidFill>
              </a:defRPr>
            </a:pPr>
            <a:r>
              <a:rPr sz="1125" b="0">
                <a:solidFill>
                  <a:srgbClr val="5D7372"/>
                </a:solidFill>
              </a:rPr>
              <a:t>相机 / 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268A2-88E9-4837-804C-DD9732B7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466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70E0D-6A18-4445-B6D0-CF964990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05050"/>
            <a:ext cx="18669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C1AA0-175E-45E7-817B-61F83663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05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ACCD8-9B7A-44E8-BFCD-4FC3CF9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479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图像预处理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E8898-9176-4B6E-88D6-B88E139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003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372"/>
                </a:solidFill>
              </a:defRPr>
            </a:pPr>
            <a:r>
              <a:rPr sz="1125" b="0">
                <a:solidFill>
                  <a:srgbClr val="5D7372"/>
                </a:solidFill>
              </a:rPr>
              <a:t>裁剪 / 旋转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A61BC-3B46-44F3-971D-ED6C2B0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33650"/>
            <a:ext cx="466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4F9C4-11F9-4EDA-939A-22647E1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8669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25F78-CD9D-4E37-8BDC-4E0A0E91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BA815-A37A-49D3-9046-DFFAE6D6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479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AI 检测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F5CDF-03E2-4FE6-A8F6-9A4C5E01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372"/>
                </a:solidFill>
              </a:defRPr>
            </a:pPr>
            <a:r>
              <a:rPr sz="1125" b="0">
                <a:solidFill>
                  <a:srgbClr val="5D7372"/>
                </a:solidFill>
              </a:rPr>
              <a:t>DET / SEG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98EDB-C940-498B-AF6A-5979DD9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66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2DB3F-2075-43E5-B7C6-2B932FA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18669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CB4AC-4309-4EAF-A8F6-FEB6E927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C5DB1-D053-4F65-A7CF-AA8F2C61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479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结果汇总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196EA-1AC8-4ECA-82DF-866C24A1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8003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372"/>
                </a:solidFill>
              </a:defRPr>
            </a:pPr>
            <a:r>
              <a:rPr sz="1125" b="0">
                <a:solidFill>
                  <a:srgbClr val="5D7372"/>
                </a:solidFill>
              </a:rPr>
              <a:t>规则 / OKNG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6D56F-0247-48F5-A137-ACFE4F3E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33650"/>
            <a:ext cx="466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D903E-EBB5-4A92-8737-4E81FF2E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05050"/>
            <a:ext cx="18669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C5F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B1B4-31FD-4CF9-A1A6-025E1EF6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05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5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5380B-215C-41F8-97B3-C4677DE0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479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PLC 写入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5CEC73-A96E-4848-AB96-88915C5B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372"/>
                </a:solidFill>
              </a:defRPr>
            </a:pPr>
            <a:r>
              <a:rPr sz="1125" b="0">
                <a:solidFill>
                  <a:srgbClr val="5D7372"/>
                </a:solidFill>
              </a:rPr>
              <a:t>输出判定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C16597-B38F-4660-9897-B703FDBF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9B62"/>
                </a:solidFill>
              </a:defRPr>
            </a:pPr>
            <a:r>
              <a:rPr sz="2100" b="1">
                <a:solidFill>
                  <a:srgbClr val="169B62"/>
                </a:solidFill>
              </a:rPr>
              <a:t>工具箱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4EDF9-896D-47B0-B7DD-34BA8A7C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1104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E87ED2-C521-4E85-AD81-4D13D08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95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采集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3BF25-020D-4976-A513-2A62BF81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28750"/>
            <a:ext cx="1104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E29C8A-CD06-4C00-AD2D-55F6AAE0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95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处理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D9B78-BAB3-4A6C-915A-68E15C15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1104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4F91F5-C227-4A3C-BA7D-0F586144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95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检测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34A9C3-A5CD-424A-9DDB-F671BDF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1104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17BCAF-EBB1-4B1F-80B8-5283163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95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测量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DF964-E9D2-430C-ADF4-79D8858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1104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8897C2-12AB-4948-8716-4C4E08F8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95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通信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EC8529-405C-47A4-A4F0-8C70BF6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1104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60EE98-995A-4EA6-AE2D-DB2FA155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95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逻辑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2960A4-2FC9-4AC6-9994-904A8D2F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28750"/>
            <a:ext cx="1104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E1D5A5-BDAD-4902-8E44-E9496C8E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954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7908E3-391F-4E13-AC1C-68F0B66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E36775-C994-4A3F-B8CC-3F75B6ED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C15F2C-8A64-4B40-B336-9D93D6D7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2A"/>
                </a:solidFill>
              </a:defRPr>
            </a:pPr>
            <a:r>
              <a:rPr sz="1575" b="0">
                <a:solidFill>
                  <a:srgbClr val="102A2A"/>
                </a:solidFill>
              </a:rPr>
              <a:t>节点参数独立配置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812EAE-5D7B-4885-9CB7-2E63FE59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22CFE0-3675-4040-9E69-9B492DAA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2A"/>
                </a:solidFill>
              </a:defRPr>
            </a:pPr>
            <a:r>
              <a:rPr sz="1575" b="0">
                <a:solidFill>
                  <a:srgbClr val="102A2A"/>
                </a:solidFill>
              </a:rPr>
              <a:t>连线决定数据与执行关系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ABEF06-FC48-4F87-B0F1-C9AA3C4C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CD2578-8487-46E4-AACC-F96D2079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2A"/>
                </a:solidFill>
              </a:defRPr>
            </a:pPr>
            <a:r>
              <a:rPr sz="1575" b="0">
                <a:solidFill>
                  <a:srgbClr val="102A2A"/>
                </a:solidFill>
              </a:rPr>
              <a:t>支持禁用、备注、复制与组合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3391E8-6E25-4EB6-A1CC-565ED3E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5140F7-4415-4F80-AAFB-F661E92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2A"/>
                </a:solidFill>
              </a:defRPr>
            </a:pPr>
            <a:r>
              <a:rPr sz="1575" b="0">
                <a:solidFill>
                  <a:srgbClr val="102A2A"/>
                </a:solidFill>
              </a:rPr>
              <a:t>运行状态与耗时可视化</a:t>
            </a:r>
          </a:p>
        </p:txBody>
      </p:sp>
    </p:spTree>
    <p:extLst>
      <p:ext uri="{BB962C8B-B14F-4D97-AF65-F5344CB8AC3E}">
        <p14:creationId xmlns:p14="http://schemas.microsoft.com/office/powerpoint/2010/main" val="352492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B768D-8058-4D1C-A019-B18CC038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DC677-6259-4B7D-869D-E98B98D0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流程调度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A9AE1-1F4F-4941-AD38-59228C6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分组、优先级、并行与触发，应对复杂设备节拍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EDA47-C13D-409C-BAA4-C637728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069E1-9862-4B09-8BD7-F1728E3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21A31-F281-4E81-B353-1961178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17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0A138-649F-4066-A13D-9DAE1746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5F4A"/>
                </a:solidFill>
              </a:defRPr>
            </a:pPr>
            <a:r>
              <a:rPr sz="2175" b="1">
                <a:solidFill>
                  <a:srgbClr val="0C5F4A"/>
                </a:solidFill>
              </a:rPr>
              <a:t>方案级调度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88E03-D6EA-4FBE-8C29-F237D5F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E69FB-E9BE-4578-99AE-A46468B5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2A"/>
                </a:solidFill>
              </a:defRPr>
            </a:pPr>
            <a:r>
              <a:rPr sz="1575" b="1">
                <a:solidFill>
                  <a:srgbClr val="102A2A"/>
                </a:solidFill>
              </a:rPr>
              <a:t>按 Group 分组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5E1C3-0B94-42E5-A4C7-ABFDA086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193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7F6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A9B46-2FA0-4519-9FD8-3B08514E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383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2A"/>
                </a:solidFill>
              </a:defRPr>
            </a:pPr>
            <a:r>
              <a:rPr sz="1575" b="1">
                <a:solidFill>
                  <a:srgbClr val="102A2A"/>
                </a:solidFill>
              </a:rPr>
              <a:t>按优先级执行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F34D6-440C-4EAB-BE8A-C4DE1299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D1B50-791B-4982-825F-0E588905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2A"/>
                </a:solidFill>
              </a:defRPr>
            </a:pPr>
            <a:r>
              <a:rPr sz="1575" b="1">
                <a:solidFill>
                  <a:srgbClr val="102A2A"/>
                </a:solidFill>
              </a:rPr>
              <a:t>同级主动流程并行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BEC79-6C44-4F25-8A34-7698D6DE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193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7F6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79752-2009-477B-975B-D76D9DFE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383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2A"/>
                </a:solidFill>
              </a:defRPr>
            </a:pPr>
            <a:r>
              <a:rPr sz="1575" b="1">
                <a:solidFill>
                  <a:srgbClr val="102A2A"/>
                </a:solidFill>
              </a:rPr>
              <a:t>等待被动流程完成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FBD4A-BE11-4F65-A6E0-3129012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C5F4A"/>
                </a:solidFill>
              </a:defRPr>
            </a:pPr>
            <a:r>
              <a:rPr sz="2175" b="1">
                <a:solidFill>
                  <a:srgbClr val="0C5F4A"/>
                </a:solidFill>
              </a:rPr>
              <a:t>流程内部逻辑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AA6D8-CFF9-4D70-9968-850AD7C4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3333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268E7-71DA-4D31-B8E6-8A9BC2C0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If / Else / EndIf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C01BF-3A60-4D73-BC18-9C749FD0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3333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03FA8-7A75-41E7-9E95-410E3D8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05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多条件判断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309EA-EEF4-4ED6-8FF9-6B4679FE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3333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5AD77-FF8F-416F-AF49-B68BEA01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05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流程触发与信号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A6B86-EC1E-4425-AC2A-86600FB2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3333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EB56C-DED8-485C-8EB5-C903B088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相机回调触发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115BB-C675-42D9-8120-A396577F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3333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AF31A-83EB-4C93-AB8E-D3F5660B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291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等待流程完成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E8E0E-1C78-47C9-8FCD-188E6C0C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333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5C6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EA617-E950-4461-9A08-0B7E9AFB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291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C5F4A"/>
                </a:solidFill>
              </a:defRPr>
            </a:pPr>
            <a:r>
              <a:rPr sz="1275" b="1">
                <a:solidFill>
                  <a:srgbClr val="0C5F4A"/>
                </a:solidFill>
              </a:rPr>
              <a:t>停止与取消令牌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7AD86-E5ED-485B-96C6-28A3E261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9B62"/>
                </a:solidFill>
              </a:defRPr>
            </a:pPr>
            <a:r>
              <a:rPr sz="1650" b="1">
                <a:solidFill>
                  <a:srgbClr val="169B62"/>
                </a:solidFill>
              </a:rPr>
              <a:t>可把检测、动作、等待和异常路径组织为可读、可维护的生产逻辑。</a:t>
            </a:r>
          </a:p>
        </p:txBody>
      </p:sp>
    </p:spTree>
    <p:extLst>
      <p:ext uri="{BB962C8B-B14F-4D97-AF65-F5344CB8AC3E}">
        <p14:creationId xmlns:p14="http://schemas.microsoft.com/office/powerpoint/2010/main" val="19103960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2D72B3-1B7A-4B28-BF5D-B8E8739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D1B6C-BB37-473D-B1C9-8114F424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可扩展设计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AF2CC-9D6D-4550-AD04-C9123F08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接口化与组合能力，让项目经验持续沉淀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5F813-A440-418C-828A-A6D38636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89AEA-82A8-4EC3-BC67-6B2A189E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78AD0-41A3-4867-90B2-9EAE14B8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18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C25C6-0FB9-412A-912C-E0C493BB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83446-C075-4531-90D8-B7A5A4E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可插拔能力核心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10431-61E0-4FBD-9DDD-B9C19A51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E8E2"/>
                </a:solidFill>
              </a:defRPr>
            </a:pPr>
            <a:r>
              <a:rPr sz="1500" b="0">
                <a:solidFill>
                  <a:srgbClr val="CFE8E2"/>
                </a:solidFill>
              </a:rPr>
              <a:t>INode · IDevice · 参数 ·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711BA-56EC-4C6D-9D11-6D07A836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D4A07-08D0-462B-A878-C91DECD2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9B62"/>
                </a:solidFill>
              </a:defRPr>
            </a:pPr>
            <a:r>
              <a:rPr sz="1950" b="1">
                <a:solidFill>
                  <a:srgbClr val="169B62"/>
                </a:solidFill>
              </a:rPr>
              <a:t>组合模块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C8878-A2CB-4E37-A6BB-E6CA440B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封装常用子流程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9B20D-1B6F-4591-8151-A0638030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00202-99FE-417A-8437-606CDB71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C6BE"/>
                </a:solidFill>
              </a:defRPr>
            </a:pPr>
            <a:r>
              <a:rPr sz="1950" b="1">
                <a:solidFill>
                  <a:srgbClr val="25C6BE"/>
                </a:solidFill>
              </a:rPr>
              <a:t>共享变量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2FB3B-E831-4BC0-9BFC-ADADC3D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跨节点传递业务数据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59626-CDC0-4D43-88B8-2A643316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9B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E76A6-C26C-47B4-A092-A128327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9B62"/>
                </a:solidFill>
              </a:defRPr>
            </a:pPr>
            <a:r>
              <a:rPr sz="1950" b="1">
                <a:solidFill>
                  <a:srgbClr val="169B62"/>
                </a:solidFill>
              </a:rPr>
              <a:t>C# 脚本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AEAC3-0965-4667-B23B-BDF9B5ED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承接特殊计算与规则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14646-CEBF-44FD-85DC-1A060A0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C6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09045-3AB9-41DA-A5C1-C7116224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C6BE"/>
                </a:solidFill>
              </a:defRPr>
            </a:pPr>
            <a:r>
              <a:rPr sz="1950" b="1">
                <a:solidFill>
                  <a:srgbClr val="25C6BE"/>
                </a:solidFill>
              </a:rPr>
              <a:t>设备接口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A808E-50FA-43F7-9C9F-194645C7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24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接入新相机与协议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85529D-395C-4176-8D5E-123C9A77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5F4A"/>
                </a:solidFill>
              </a:defRPr>
            </a:pPr>
            <a:r>
              <a:rPr sz="1650" b="1">
                <a:solidFill>
                  <a:srgbClr val="0C5F4A"/>
                </a:solidFill>
              </a:rPr>
              <a:t>扩展新能力时保持现有流程稳定，降低跨项目复制后的维护成本。</a:t>
            </a:r>
          </a:p>
        </p:txBody>
      </p:sp>
    </p:spTree>
    <p:extLst>
      <p:ext uri="{BB962C8B-B14F-4D97-AF65-F5344CB8AC3E}">
        <p14:creationId xmlns:p14="http://schemas.microsoft.com/office/powerpoint/2010/main" val="9228497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09D49C-1B55-4AF1-8292-B2F0666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F1D65-5811-4E9C-BEBD-6687D63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结果闭环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E545D-F710-476F-8EFC-AB0EFD92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结果不仅要判定，更要显示、输出、统计与追溯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113B4-F88D-45CA-B378-7398843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F134E-252A-4FDC-A32E-E6E52A90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98EC6-B3A5-46CE-B5F5-AB9B1AAD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19 / 23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ebf045ca94ba7"/>
          <a:stretch xmlns:a="http://schemas.openxmlformats.org/drawingml/2006/main"/>
        </p:blipFill>
        <p:spPr>
          <a:xfrm xmlns:a="http://schemas.openxmlformats.org/drawingml/2006/main">
            <a:off x="1057275" y="16573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BCE9E-C377-46D8-8FF8-C6305A7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33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9B62"/>
                </a:solidFill>
              </a:defRPr>
            </a:pPr>
            <a:r>
              <a:rPr sz="1725" b="1">
                <a:solidFill>
                  <a:srgbClr val="169B62"/>
                </a:solidFill>
              </a:rPr>
              <a:t>结果绘制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E2EEB-DB53-4C8D-A9D2-F1783877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670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框、轮廓、线、圆与文字叠加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15269-F701-4DF6-BC3B-1B90803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574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374b4b0c84ecb"/>
          <a:stretch xmlns:a="http://schemas.openxmlformats.org/drawingml/2006/main"/>
        </p:blipFill>
        <p:spPr>
          <a:xfrm xmlns:a="http://schemas.openxmlformats.org/drawingml/2006/main">
            <a:off x="3390900" y="16573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83C47-11DC-4046-8A1F-04F50DE8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33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C6BE"/>
                </a:solidFill>
              </a:defRPr>
            </a:pPr>
            <a:r>
              <a:rPr sz="1725" b="1">
                <a:solidFill>
                  <a:srgbClr val="25C6BE"/>
                </a:solidFill>
              </a:rPr>
              <a:t>结果汇总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87C15-D955-40CA-AC06-BABAAE0D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670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多检测项统一形成 OK/NG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3341F-826A-430C-9C9C-DEDD059C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574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0aa66275a422f"/>
          <a:stretch xmlns:a="http://schemas.openxmlformats.org/drawingml/2006/main"/>
        </p:blipFill>
        <p:spPr>
          <a:xfrm xmlns:a="http://schemas.openxmlformats.org/drawingml/2006/main">
            <a:off x="5724525" y="1712058"/>
            <a:ext cx="609600" cy="50018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74896-1338-4F0D-9CA5-736E572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9B62"/>
                </a:solidFill>
              </a:defRPr>
            </a:pPr>
            <a:r>
              <a:rPr sz="1725" b="1">
                <a:solidFill>
                  <a:srgbClr val="169B62"/>
                </a:solidFill>
              </a:rPr>
              <a:t>现场显示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0AAAA-0AC6-4632-8A07-825C50A6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图像、数值、状态和统计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9D68A-1F26-4DC2-A422-246857C9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6bd5be91f4653"/>
          <a:stretch xmlns:a="http://schemas.openxmlformats.org/drawingml/2006/main"/>
        </p:blipFill>
        <p:spPr>
          <a:xfrm xmlns:a="http://schemas.openxmlformats.org/drawingml/2006/main">
            <a:off x="8058150" y="16573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3F988-C66A-4F80-9E32-7BA7133F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533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C6BE"/>
                </a:solidFill>
              </a:defRPr>
            </a:pPr>
            <a:r>
              <a:rPr sz="1725" b="1">
                <a:solidFill>
                  <a:srgbClr val="25C6BE"/>
                </a:solidFill>
              </a:rPr>
              <a:t>图片归档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225C3-3947-4D00-81DE-AF68458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670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按条件保存并定期清理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D3AF9-F255-4AA1-A905-93BA57CA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574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9B62"/>
                </a:solidFill>
              </a:defRPr>
            </a:pPr>
            <a:r>
              <a:rPr sz="2250" b="1">
                <a:solidFill>
                  <a:srgbClr val="169B62"/>
                </a:solidFill>
              </a:rPr>
              <a:t>→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9dab138b44d41"/>
          <a:stretch xmlns:a="http://schemas.openxmlformats.org/drawingml/2006/main"/>
        </p:blipFill>
        <p:spPr>
          <a:xfrm xmlns:a="http://schemas.openxmlformats.org/drawingml/2006/main">
            <a:off x="10391775" y="16573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B9DAF-5BFB-4BFF-8171-E4184805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33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9B62"/>
                </a:solidFill>
              </a:defRPr>
            </a:pPr>
            <a:r>
              <a:rPr sz="1725" b="1">
                <a:solidFill>
                  <a:srgbClr val="169B62"/>
                </a:solidFill>
              </a:rPr>
              <a:t>表格导出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D1A52-B099-4BE9-B2CC-92693BD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670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检测结果形成 Excel 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04CD0-9C15-4E68-A404-8234E506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028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EE9"/>
          </a:solidFill>
          <a:ln xmlns:a="http://schemas.openxmlformats.org/drawingml/2006/main" w="9525">
            <a:solidFill>
              <a:srgbClr val="169B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1AA89-4C82-4855-81A7-4B2382ED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C5F4A"/>
                </a:solidFill>
              </a:defRPr>
            </a:pPr>
            <a:r>
              <a:rPr sz="2175" b="1">
                <a:solidFill>
                  <a:srgbClr val="0C5F4A"/>
                </a:solidFill>
              </a:rPr>
              <a:t>原图 + 结果图 + 数值 + 时间 + 统计 + 通信输出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EF8F8-5EBD-4077-9F98-EC43617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372"/>
                </a:solidFill>
              </a:defRPr>
            </a:pPr>
            <a:r>
              <a:rPr sz="1500" b="0">
                <a:solidFill>
                  <a:srgbClr val="5D7372"/>
                </a:solidFill>
              </a:rPr>
              <a:t>支持形成可查询、可复盘的质量证据链</a:t>
            </a:r>
          </a:p>
        </p:txBody>
      </p:sp>
    </p:spTree>
    <p:extLst>
      <p:ext uri="{BB962C8B-B14F-4D97-AF65-F5344CB8AC3E}">
        <p14:creationId xmlns:p14="http://schemas.microsoft.com/office/powerpoint/2010/main" val="4148714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742EBB-6B2D-4271-A7D6-1291BF4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09A0C-9CFE-470F-B4D0-5CA6B4C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应用全景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7237A-815E-4FC6-872A-9A9E6A4F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同一套框架，可以承接七类核心视觉应用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0EE72-4CC2-4656-B61D-6E28B49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3B9D6-C75F-4683-B6F4-65C59348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F4BA5-B7F6-4B32-937D-51EEE66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20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9856C-4CD2-4E84-91A7-C7550F0D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9B62"/>
                </a:solidFill>
              </a:defRPr>
            </a:pPr>
            <a:r>
              <a:rPr sz="1875" b="1">
                <a:solidFill>
                  <a:srgbClr val="169B6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552FF-5AC7-41D4-8156-44C02D0F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85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尺寸测量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FB25A-1A30-4B54-999D-72A76C09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85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长度、间距、角度、圆径、位置偏差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6731B-DDDB-46B3-9315-EFC0BDD0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BF60E-291B-4B92-B49D-7A983F3E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C6BE"/>
                </a:solidFill>
              </a:defRPr>
            </a:pPr>
            <a:r>
              <a:rPr sz="1875" b="1">
                <a:solidFill>
                  <a:srgbClr val="25C6B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466F1-E6A4-4989-9C26-640D78DF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外观缺陷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C0D5C-E6EA-48DB-BEA2-4DED07BA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划伤、脏污、破损、异物、毛刺、缺料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248E6-8C1B-488D-89C6-CC877898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9222E-6301-4B4F-AF71-DCC94451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9B62"/>
                </a:solidFill>
              </a:defRPr>
            </a:pPr>
            <a:r>
              <a:rPr sz="1875" b="1">
                <a:solidFill>
                  <a:srgbClr val="169B6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C61B9-F87A-4108-9EA0-F11E05D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装配检测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A5A03-EBCB-4ADA-9CE6-EBD332C4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19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漏装、错装、反装、偏位、间隙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BCB88-41DD-40EC-AD90-63A1820C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B02A1-9A4F-4CC7-BFBB-632A625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C6BE"/>
                </a:solidFill>
              </a:defRPr>
            </a:pPr>
            <a:r>
              <a:rPr sz="1875" b="1">
                <a:solidFill>
                  <a:srgbClr val="25C6B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598CE-3DAD-42B9-B243-64EC64C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定位引导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204FA-E1DB-4304-97DB-C17BB40E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模板定位、特征定位、位置修正、坐标输出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0C74E-E773-4AC0-94DD-C8F219B3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859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9B62"/>
                </a:solidFill>
              </a:defRPr>
            </a:pPr>
            <a:r>
              <a:rPr sz="1875" b="1">
                <a:solidFill>
                  <a:srgbClr val="169B62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210E7-0391-41EF-8DB4-C3B763FA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485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识别追溯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FFF4D-7072-4F24-867E-66D8DC40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85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二维码、颜色、类别、批次与结果记录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42565-14F3-49DC-AF72-2AC0827E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0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CBB2A-C3DD-49FE-BAE8-6CF0DFB7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52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C6BE"/>
                </a:solidFill>
              </a:defRPr>
            </a:pPr>
            <a:r>
              <a:rPr sz="1875" b="1">
                <a:solidFill>
                  <a:srgbClr val="25C6BE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6A1406-40E5-4D71-8446-75E1769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527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AI 视觉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1B602-34FE-4FC9-B5A7-1559E3F0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52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检测、分割、姿态、旋转目标、异常检测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A0AC54-C3EC-4111-86CF-4385A8A9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67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C1ADF-7A8D-42AA-9D0B-05E5BC47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19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9B62"/>
                </a:solidFill>
              </a:defRPr>
            </a:pPr>
            <a:r>
              <a:rPr sz="1875" b="1">
                <a:solidFill>
                  <a:srgbClr val="169B62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0FF1F-4402-4C4B-A04A-09BFDB70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19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2A"/>
                </a:solidFill>
              </a:defRPr>
            </a:pPr>
            <a:r>
              <a:rPr sz="1875" b="1">
                <a:solidFill>
                  <a:srgbClr val="102A2A"/>
                </a:solidFill>
              </a:rPr>
              <a:t>3D 视觉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062F52-0AD3-4BB0-AF4E-7C6CBE77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19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372"/>
                </a:solidFill>
              </a:defRPr>
            </a:pPr>
            <a:r>
              <a:rPr sz="1350" b="0">
                <a:solidFill>
                  <a:srgbClr val="5D7372"/>
                </a:solidFill>
              </a:rPr>
              <a:t>高度差、轮廓、平面度、台阶、体积方向</a:t>
            </a:r>
          </a:p>
        </p:txBody>
      </p:sp>
    </p:spTree>
    <p:extLst>
      <p:ext uri="{BB962C8B-B14F-4D97-AF65-F5344CB8AC3E}">
        <p14:creationId xmlns:p14="http://schemas.microsoft.com/office/powerpoint/2010/main" val="4347961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445D4-C8D7-4939-A0B7-11BE5E3D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3EBA4-5952-4187-8AB4-FEBAADBD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典型行业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AFE63-720A-4850-96EB-EEFC065F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平台能力可复用于多种离散制造与质量场景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ABB70-A268-4502-B0D3-A84A058D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8581D-326B-4096-B4EE-E221E34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B7516-7698-4135-8C05-608A0A2A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21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B6991-07CC-4712-A92D-8159222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4EB15-9A53-4F16-83F4-20AFABE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A"/>
                </a:solidFill>
              </a:defRPr>
            </a:pPr>
            <a:r>
              <a:rPr sz="2025" b="1">
                <a:solidFill>
                  <a:srgbClr val="102A2A"/>
                </a:solidFill>
              </a:rPr>
              <a:t>新能源电池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63C1D-6BD9-4277-8AD6-AC5132E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极耳、注液孔、封装、焊接与表面缺陷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BF338-7938-49E6-8C34-ABA3BEC8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859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8BC93-8FEB-4373-B03C-B6B3F23E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A"/>
                </a:solidFill>
              </a:defRPr>
            </a:pPr>
            <a:r>
              <a:rPr sz="2025" b="1">
                <a:solidFill>
                  <a:srgbClr val="102A2A"/>
                </a:solidFill>
              </a:rPr>
              <a:t>线束与连接器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16AB9-FCCD-48C9-B381-5AC497A0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端子压接、线芯、胶塞、插针与颜色识别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778D0-B551-4E5F-9CC2-79E8C13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32AE8-A3AB-439A-B07A-90F648D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A"/>
                </a:solidFill>
              </a:defRPr>
            </a:pPr>
            <a:r>
              <a:rPr sz="2025" b="1">
                <a:solidFill>
                  <a:srgbClr val="102A2A"/>
                </a:solidFill>
              </a:rPr>
              <a:t>3C 电子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9D95A-046F-4CC0-8E2A-6016E7F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零件外观、装配完整性、尺寸与字符识别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919FA-86E7-4BD7-BFB0-A48F573A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CE864-5603-4546-8687-FC21060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A"/>
                </a:solidFill>
              </a:defRPr>
            </a:pPr>
            <a:r>
              <a:rPr sz="2025" b="1">
                <a:solidFill>
                  <a:srgbClr val="102A2A"/>
                </a:solidFill>
              </a:rPr>
              <a:t>汽车零部件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F64B3-3C39-4F61-87CC-63755B75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孔位、轮廓、装配、划伤与定位引导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8FD1E-D773-4D54-A0CF-338D0A60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553ED-CF29-4418-9ED5-F92939F8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A"/>
                </a:solidFill>
              </a:defRPr>
            </a:pPr>
            <a:r>
              <a:rPr sz="2025" b="1">
                <a:solidFill>
                  <a:srgbClr val="102A2A"/>
                </a:solidFill>
              </a:rPr>
              <a:t>包装与印刷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C0B9B-CFF2-4692-AB77-BC68F15A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条码、标签、缺印、偏位、封口和外观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6C2E9-B2E1-464E-882F-23C53DA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D55DC-AF87-40FC-A2F4-C5554B2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2A"/>
                </a:solidFill>
              </a:defRPr>
            </a:pPr>
            <a:r>
              <a:rPr sz="2025" b="1">
                <a:solidFill>
                  <a:srgbClr val="102A2A"/>
                </a:solidFill>
              </a:rPr>
              <a:t>精密制造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430F5-D6D1-4F3B-8DA3-9369D6F1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372"/>
                </a:solidFill>
              </a:defRPr>
            </a:pPr>
            <a:r>
              <a:rPr sz="1425" b="0">
                <a:solidFill>
                  <a:srgbClr val="5D7372"/>
                </a:solidFill>
              </a:rPr>
              <a:t>尺寸、公差、轮廓、高度差和表面异常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D6161-2442-445B-A40D-BCE2142C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9B62"/>
                </a:solidFill>
              </a:defRPr>
            </a:pPr>
            <a:r>
              <a:rPr sz="1575" b="1">
                <a:solidFill>
                  <a:srgbClr val="169B62"/>
                </a:solidFill>
              </a:rPr>
              <a:t>每个场景都从样品、节拍、精度、误判风险和现场通信条件出发验证。</a:t>
            </a:r>
          </a:p>
        </p:txBody>
      </p:sp>
    </p:spTree>
    <p:extLst>
      <p:ext uri="{BB962C8B-B14F-4D97-AF65-F5344CB8AC3E}">
        <p14:creationId xmlns:p14="http://schemas.microsoft.com/office/powerpoint/2010/main" val="6087225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5F6DD-63DA-4982-AF65-6B3CD889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FA68-5C6F-4054-968D-6C1D3464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B62"/>
                </a:solidFill>
              </a:defRPr>
            </a:pPr>
            <a:r>
              <a:rPr sz="1125" b="1">
                <a:solidFill>
                  <a:srgbClr val="169B62"/>
                </a:solidFill>
              </a:rPr>
              <a:t>项目交付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E70DF-E7F6-4FE1-A011-BF9AA74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2A"/>
                </a:solidFill>
              </a:defRPr>
            </a:pPr>
            <a:r>
              <a:rPr sz="3600" b="1">
                <a:solidFill>
                  <a:srgbClr val="102A2A"/>
                </a:solidFill>
              </a:rPr>
              <a:t>标准实施路径，让需求、算法与设备同步落地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0894C-B825-4965-973F-3E1A89DD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55D2F-42F1-4B2F-B608-A33A7D9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TDJS-Vision  工业视觉应用框架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F0D6F-276B-444F-BA48-A7808AF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7372"/>
                </a:solidFill>
              </a:defRPr>
            </a:pPr>
            <a:r>
              <a:rPr sz="975" b="0">
                <a:solidFill>
                  <a:srgbClr val="5D7372"/>
                </a:solidFill>
              </a:rPr>
              <a:t>22 /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B5AEA-FFD9-4DBB-A2D2-1965003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1DB76-EBAC-48FE-8B49-BF8F303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39388-6AD8-42EE-BBCF-F2E30384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A02C2-BD73-4A2F-BCA3-0A299442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需求澄清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F1BE7-2A0B-47C1-BA66-31393612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9052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缺陷定义、节拍、精度与接口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CDA17-03F2-4689-A0AC-42AFDFF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3A643-A684-489F-B216-D27397D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003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35FF7-7815-4ACD-899A-57F88E69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099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样品评估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D6F9A-6B36-4DF8-851F-333FF730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9052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成像方案与可行性验证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AED16-AABE-4D6F-8F0E-78AA7BA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A7C4E-0749-4560-86C9-1BE0209E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03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8009B-A540-40B8-9DC9-9F2289A0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099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方案搭建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9548D-03D5-409C-BAA2-5BD58D20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052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设备、算法、流程和结果配置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551A0-1455-4DDB-97FB-87F752CC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9903B-3EB1-4530-91C5-84FCC663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29209-0E21-4C15-9258-4CBC4647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99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离线验证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DBF56-31B5-4C31-A281-07F178EB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9052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数据集、边界样本与稳定性测试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0281D-A0F5-409D-BF02-4FBCC90D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4D175-A46A-48E6-B93B-1E7229B4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03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6C66E-71D0-42FD-BABB-9984895B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99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现场联调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E037A-AF90-4C12-917C-2D91BC5D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052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触发、通信、动作与异常路径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883765-E185-43E5-B63D-43B2D3E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00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77FAA-63B6-4B27-A9B3-A7BF2F1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03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05EE9-6C1F-4F59-84B3-85DA98B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099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验收迭代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BE1E4-3CAD-4394-AE34-EDA93BAC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9052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372"/>
                </a:solidFill>
              </a:defRPr>
            </a:pPr>
            <a:r>
              <a:rPr sz="1275" b="0">
                <a:solidFill>
                  <a:srgbClr val="5D7372"/>
                </a:solidFill>
              </a:rPr>
              <a:t>指标确认、版本固化与持续优化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84A343-A231-42C1-85C1-2F13F8A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05400"/>
            <a:ext cx="8382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BB85A-7B27-4A27-B49A-1E6BD905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5F4A"/>
                </a:solidFill>
              </a:defRPr>
            </a:pPr>
            <a:r>
              <a:rPr sz="1650" b="1">
                <a:solidFill>
                  <a:srgbClr val="0C5F4A"/>
                </a:solidFill>
              </a:rPr>
              <a:t>框架沉淀通用能力，项目聚焦真正有差异的成像、算法与现场逻辑。</a:t>
            </a:r>
          </a:p>
        </p:txBody>
      </p:sp>
    </p:spTree>
    <p:extLst>
      <p:ext uri="{BB962C8B-B14F-4D97-AF65-F5344CB8AC3E}">
        <p14:creationId xmlns:p14="http://schemas.microsoft.com/office/powerpoint/2010/main" val="9565946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CAE4C-F59C-4FCD-8A89-556CEA89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2BFE2-1C6A-42BD-89D9-1A6AF0BD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C6BE"/>
                </a:solidFill>
              </a:defRPr>
            </a:pPr>
            <a:r>
              <a:rPr sz="1875" b="1">
                <a:solidFill>
                  <a:srgbClr val="25C6BE"/>
                </a:solidFill>
              </a:rPr>
              <a:t>TDJS-Vision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863B2-8F1E-4AAE-9F6E-EF119FA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让每一次视觉项目交付，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都成为下一次快速落地的基础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BB6ED-0B15-4E22-AA94-78980876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8B242-4FFB-47DD-A2BA-1B6341D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7D8D5"/>
                </a:solidFill>
              </a:defRPr>
            </a:pPr>
            <a:r>
              <a:rPr sz="2025" b="0">
                <a:solidFill>
                  <a:srgbClr val="C7D8D5"/>
                </a:solidFill>
              </a:rPr>
              <a:t>欢迎从现场样品、检测指标和通信节拍开始，共同验证应用方案。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8BBFF-D3F5-4D9F-A66E-1D13552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5F4A"/>
          </a:solidFill>
          <a:ln xmlns:a="http://schemas.openxmlformats.org/drawingml/2006/main" w="28575">
            <a:solidFill>
              <a:srgbClr val="25C6BE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6f804619e4053"/>
          <a:stretch xmlns:a="http://schemas.openxmlformats.org/drawingml/2006/main"/>
        </p:blipFill>
        <p:spPr>
          <a:xfrm xmlns:a="http://schemas.openxmlformats.org/drawingml/2006/main">
            <a:off x="9334500" y="2038350"/>
            <a:ext cx="1409700" cy="1409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BD720-E165-488D-8A10-D96AB02D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C6BE"/>
                </a:solidFill>
              </a:defRPr>
            </a:pPr>
            <a:r>
              <a:rPr sz="1425" b="1">
                <a:solidFill>
                  <a:srgbClr val="25C6BE"/>
                </a:solidFill>
              </a:rPr>
              <a:t>工业视觉应用框架 · 可配置 · 可复用 · 可扩展</a:t>
            </a:r>
          </a:p>
        </p:txBody>
      </p:sp>
    </p:spTree>
    <p:extLst>
      <p:ext uri="{BB962C8B-B14F-4D97-AF65-F5344CB8AC3E}">
        <p14:creationId xmlns:p14="http://schemas.microsoft.com/office/powerpoint/2010/main" val="1287599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2026-07-13T09:13:06.3680000Z</dcterms:created>
  <dcterms:modified xsi:type="dcterms:W3CDTF">2026-07-13T09:13:06.3680000Z</dcterms:modified>
</coreProperties>
</file>