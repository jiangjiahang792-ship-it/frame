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c02039259da4786" /><Relationship Type="http://schemas.openxmlformats.org/officeDocument/2006/relationships/extended-properties" Target="/docProps/app.xml" Id="R56f31e214c894099" /><Relationship Type="http://schemas.openxmlformats.org/officeDocument/2006/relationships/officeDocument" Target="/ppt/presentation.xml" Id="R47d418f5eb8944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f75bffa6484ead"/>
  </p:sldMasterIdLst>
  <p:notesMasterIdLst>
    <p:notesMasterId xmlns:r="http://schemas.openxmlformats.org/officeDocument/2006/relationships" r:id="Rab2abb66170b41e7"/>
  </p:notesMasterIdLst>
  <p:sldIdLst>
    <p:sldId xmlns:r="http://schemas.openxmlformats.org/officeDocument/2006/relationships" id="256" r:id="Rccea2545a1c14e98"/>
    <p:sldId xmlns:r="http://schemas.openxmlformats.org/officeDocument/2006/relationships" id="257" r:id="Ra04c2f05334b4396"/>
    <p:sldId xmlns:r="http://schemas.openxmlformats.org/officeDocument/2006/relationships" id="258" r:id="Rd3bf121868c14ab8"/>
    <p:sldId xmlns:r="http://schemas.openxmlformats.org/officeDocument/2006/relationships" id="259" r:id="R16572585cbc442ef"/>
    <p:sldId xmlns:r="http://schemas.openxmlformats.org/officeDocument/2006/relationships" id="260" r:id="Rbef7a4372f044a5c"/>
    <p:sldId xmlns:r="http://schemas.openxmlformats.org/officeDocument/2006/relationships" id="261" r:id="R2a82076448be4878"/>
    <p:sldId xmlns:r="http://schemas.openxmlformats.org/officeDocument/2006/relationships" id="262" r:id="Rf583b7863e624b36"/>
    <p:sldId xmlns:r="http://schemas.openxmlformats.org/officeDocument/2006/relationships" id="263" r:id="R5d362c394c40479c"/>
    <p:sldId xmlns:r="http://schemas.openxmlformats.org/officeDocument/2006/relationships" id="264" r:id="Rfe0ddfba88fb44cd"/>
    <p:sldId xmlns:r="http://schemas.openxmlformats.org/officeDocument/2006/relationships" id="265" r:id="Re4563ae5dbd24db5"/>
    <p:sldId xmlns:r="http://schemas.openxmlformats.org/officeDocument/2006/relationships" id="266" r:id="R31733d534ab04f6b"/>
    <p:sldId xmlns:r="http://schemas.openxmlformats.org/officeDocument/2006/relationships" id="267" r:id="R48ffba70c15f42b7"/>
    <p:sldId xmlns:r="http://schemas.openxmlformats.org/officeDocument/2006/relationships" id="268" r:id="Rdb433a4cca864501"/>
    <p:sldId xmlns:r="http://schemas.openxmlformats.org/officeDocument/2006/relationships" id="269" r:id="R4c901b00c60241d6"/>
    <p:sldId xmlns:r="http://schemas.openxmlformats.org/officeDocument/2006/relationships" id="270" r:id="R0aa6816b76a04e8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3e748967e04bc5" /><Relationship Type="http://schemas.openxmlformats.org/officeDocument/2006/relationships/slideMaster" Target="/ppt/slideMasters/slideMaster1.xml" Id="Rd7f75bffa6484ead" /><Relationship Type="http://schemas.openxmlformats.org/officeDocument/2006/relationships/notesMaster" Target="/ppt/notesMasters/notesMaster1.xml" Id="Rab2abb66170b41e7" /><Relationship Type="http://schemas.openxmlformats.org/officeDocument/2006/relationships/presProps" Target="/ppt/presProps.xml" Id="Rb63131ddb8594bc1" /><Relationship Type="http://schemas.openxmlformats.org/officeDocument/2006/relationships/tableStyles" Target="/ppt/tableStyles.xml" Id="R7c2d814dcb4841c4" /><Relationship Type="http://schemas.openxmlformats.org/officeDocument/2006/relationships/slide" Target="/ppt/slides/slide1.xml" Id="Rccea2545a1c14e98" /><Relationship Type="http://schemas.openxmlformats.org/officeDocument/2006/relationships/slide" Target="/ppt/slides/slide2.xml" Id="Ra04c2f05334b4396" /><Relationship Type="http://schemas.openxmlformats.org/officeDocument/2006/relationships/slide" Target="/ppt/slides/slide3.xml" Id="Rd3bf121868c14ab8" /><Relationship Type="http://schemas.openxmlformats.org/officeDocument/2006/relationships/slide" Target="/ppt/slides/slide4.xml" Id="R16572585cbc442ef" /><Relationship Type="http://schemas.openxmlformats.org/officeDocument/2006/relationships/slide" Target="/ppt/slides/slide5.xml" Id="Rbef7a4372f044a5c" /><Relationship Type="http://schemas.openxmlformats.org/officeDocument/2006/relationships/slide" Target="/ppt/slides/slide6.xml" Id="R2a82076448be4878" /><Relationship Type="http://schemas.openxmlformats.org/officeDocument/2006/relationships/slide" Target="/ppt/slides/slide7.xml" Id="Rf583b7863e624b36" /><Relationship Type="http://schemas.openxmlformats.org/officeDocument/2006/relationships/slide" Target="/ppt/slides/slide8.xml" Id="R5d362c394c40479c" /><Relationship Type="http://schemas.openxmlformats.org/officeDocument/2006/relationships/slide" Target="/ppt/slides/slide9.xml" Id="Rfe0ddfba88fb44cd" /><Relationship Type="http://schemas.openxmlformats.org/officeDocument/2006/relationships/slide" Target="/ppt/slides/slide10.xml" Id="Re4563ae5dbd24db5" /><Relationship Type="http://schemas.openxmlformats.org/officeDocument/2006/relationships/slide" Target="/ppt/slides/slide11.xml" Id="R31733d534ab04f6b" /><Relationship Type="http://schemas.openxmlformats.org/officeDocument/2006/relationships/slide" Target="/ppt/slides/slide12.xml" Id="R48ffba70c15f42b7" /><Relationship Type="http://schemas.openxmlformats.org/officeDocument/2006/relationships/slide" Target="/ppt/slides/slide13.xml" Id="Rdb433a4cca864501" /><Relationship Type="http://schemas.openxmlformats.org/officeDocument/2006/relationships/slide" Target="/ppt/slides/slide14.xml" Id="R4c901b00c60241d6" /><Relationship Type="http://schemas.openxmlformats.org/officeDocument/2006/relationships/slide" Target="/ppt/slides/slide15.xml" Id="R0aa6816b76a04e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dfaa9aa6b749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c7771b75e04df4" /><Relationship Type="http://schemas.openxmlformats.org/officeDocument/2006/relationships/notesMaster" Target="/ppt/notesMasters/notesMaster1.xml" Id="Rdb6df4505f234d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e66a5d44174fd4" /><Relationship Type="http://schemas.openxmlformats.org/officeDocument/2006/relationships/notesMaster" Target="/ppt/notesMasters/notesMaster1.xml" Id="R40f05306750c4f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a964d609cb4c1a" /><Relationship Type="http://schemas.openxmlformats.org/officeDocument/2006/relationships/notesMaster" Target="/ppt/notesMasters/notesMaster1.xml" Id="R43e1cd1d2a594b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3efafc54184354" /><Relationship Type="http://schemas.openxmlformats.org/officeDocument/2006/relationships/notesMaster" Target="/ppt/notesMasters/notesMaster1.xml" Id="R3f926b0352ce4f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428a2dc297e413a" /><Relationship Type="http://schemas.openxmlformats.org/officeDocument/2006/relationships/notesMaster" Target="/ppt/notesMasters/notesMaster1.xml" Id="Rbf1ce65593b74f6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2a9da6859514398" /><Relationship Type="http://schemas.openxmlformats.org/officeDocument/2006/relationships/notesMaster" Target="/ppt/notesMasters/notesMaster1.xml" Id="Rb60462617fa64f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71b2d0cf5d0473a" /><Relationship Type="http://schemas.openxmlformats.org/officeDocument/2006/relationships/notesMaster" Target="/ppt/notesMasters/notesMaster1.xml" Id="R091808e4e3794ce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4fcf5ae17d4260" /><Relationship Type="http://schemas.openxmlformats.org/officeDocument/2006/relationships/notesMaster" Target="/ppt/notesMasters/notesMaster1.xml" Id="Rc901c8253eb04a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aa39761da244e48" /><Relationship Type="http://schemas.openxmlformats.org/officeDocument/2006/relationships/notesMaster" Target="/ppt/notesMasters/notesMaster1.xml" Id="R5d705f1cba7d40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19298b98d284377" /><Relationship Type="http://schemas.openxmlformats.org/officeDocument/2006/relationships/notesMaster" Target="/ppt/notesMasters/notesMaster1.xml" Id="R3aa842ed0dac436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d00dc505d004276" /><Relationship Type="http://schemas.openxmlformats.org/officeDocument/2006/relationships/notesMaster" Target="/ppt/notesMasters/notesMaster1.xml" Id="R8419469cd58140b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4ba341b6695465b" /><Relationship Type="http://schemas.openxmlformats.org/officeDocument/2006/relationships/notesMaster" Target="/ppt/notesMasters/notesMaster1.xml" Id="Rbaac3df72d0644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cd017802844e44" /><Relationship Type="http://schemas.openxmlformats.org/officeDocument/2006/relationships/notesMaster" Target="/ppt/notesMasters/notesMaster1.xml" Id="Rc12abca0a9a3470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1331447305400a" /><Relationship Type="http://schemas.openxmlformats.org/officeDocument/2006/relationships/notesMaster" Target="/ppt/notesMasters/notesMaster1.xml" Id="R1de2e95a7d504f9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470a81b8b9349e8" /><Relationship Type="http://schemas.openxmlformats.org/officeDocument/2006/relationships/notesMaster" Target="/ppt/notesMasters/notesMaster1.xml" Id="R16703f7e4fa54d8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09b82f59334d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46ee980a26c43f1" /><Relationship Type="http://schemas.openxmlformats.org/officeDocument/2006/relationships/slideLayout" Target="/ppt/slideLayouts/slideLayout1.xml" Id="R81b29955d93e45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b29955d93e45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13307d38647aa" /><Relationship Type="http://schemas.openxmlformats.org/officeDocument/2006/relationships/image" Target="/ppt/media/image.png" Id="R17cfdcd85cc0497e" /><Relationship Type="http://schemas.openxmlformats.org/officeDocument/2006/relationships/image" Target="/ppt/media/image2.png" Id="Re7359198b66e40c2" /><Relationship Type="http://schemas.openxmlformats.org/officeDocument/2006/relationships/notesSlide" Target="/ppt/notesSlides/notesSlide1.xml" Id="Rc1a1a741208b43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a47afc1104139" /><Relationship Type="http://schemas.openxmlformats.org/officeDocument/2006/relationships/notesSlide" Target="/ppt/notesSlides/notesSlide2.xml" Id="R68dcf77454e54c9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3b768f1cf429f" /><Relationship Type="http://schemas.openxmlformats.org/officeDocument/2006/relationships/image" Target="/ppt/media/image3.png" Id="R7566df4e6891422f" /><Relationship Type="http://schemas.openxmlformats.org/officeDocument/2006/relationships/notesSlide" Target="/ppt/notesSlides/notesSlide3.xml" Id="R6556de94da1e4e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31e4ef8944af2" /><Relationship Type="http://schemas.openxmlformats.org/officeDocument/2006/relationships/image" Target="/ppt/media/image4.png" Id="R71b252f122904bbf" /><Relationship Type="http://schemas.openxmlformats.org/officeDocument/2006/relationships/image" Target="/ppt/media/image5.png" Id="R54ed640e628b4b8e" /><Relationship Type="http://schemas.openxmlformats.org/officeDocument/2006/relationships/notesSlide" Target="/ppt/notesSlides/notesSlide4.xml" Id="R8e154b6781cc4dd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5ce326f1d74a98" /><Relationship Type="http://schemas.openxmlformats.org/officeDocument/2006/relationships/image" Target="/ppt/media/image6.png" Id="R38261e6f132545bb" /><Relationship Type="http://schemas.openxmlformats.org/officeDocument/2006/relationships/notesSlide" Target="/ppt/notesSlides/notesSlide5.xml" Id="Ra6fc4745671444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f3fc16482444e" /><Relationship Type="http://schemas.openxmlformats.org/officeDocument/2006/relationships/image" Target="/ppt/media/image7.png" Id="Rf385ab4f319645ec" /><Relationship Type="http://schemas.openxmlformats.org/officeDocument/2006/relationships/image" Target="/ppt/media/image8.png" Id="Rf8c5a54ee9ad4896" /><Relationship Type="http://schemas.openxmlformats.org/officeDocument/2006/relationships/notesSlide" Target="/ppt/notesSlides/notesSlide6.xml" Id="R3eac60d67c4b46a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5763c1600f4244" /><Relationship Type="http://schemas.openxmlformats.org/officeDocument/2006/relationships/notesSlide" Target="/ppt/notesSlides/notesSlide7.xml" Id="R2f412eee875b4de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f16b937314adf" /><Relationship Type="http://schemas.openxmlformats.org/officeDocument/2006/relationships/image" Target="/ppt/media/image9.png" Id="R0b78edea810e49f1" /><Relationship Type="http://schemas.openxmlformats.org/officeDocument/2006/relationships/image" Target="/ppt/media/image10.png" Id="Re0058884b7944a8d" /><Relationship Type="http://schemas.openxmlformats.org/officeDocument/2006/relationships/notesSlide" Target="/ppt/notesSlides/notesSlide8.xml" Id="R9197ae36585844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9854b1f5f4db3" /><Relationship Type="http://schemas.openxmlformats.org/officeDocument/2006/relationships/image" Target="/ppt/media/image11.png" Id="Rae9d4bb427f74f34" /><Relationship Type="http://schemas.openxmlformats.org/officeDocument/2006/relationships/notesSlide" Target="/ppt/notesSlides/notesSlide9.xml" Id="R8b771f291f1a48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065b8bc56455a" /><Relationship Type="http://schemas.openxmlformats.org/officeDocument/2006/relationships/notesSlide" Target="/ppt/notesSlides/notesSlide10.xml" Id="Ref17c40b23ac4f1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d05462922544d1" /><Relationship Type="http://schemas.openxmlformats.org/officeDocument/2006/relationships/image" Target="/ppt/media/image12.png" Id="Re03a287aea3a49d4" /><Relationship Type="http://schemas.openxmlformats.org/officeDocument/2006/relationships/notesSlide" Target="/ppt/notesSlides/notesSlide11.xml" Id="Rfe5f7b4c592449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a63bc2b8a4843" /><Relationship Type="http://schemas.openxmlformats.org/officeDocument/2006/relationships/image" Target="/ppt/media/image13.png" Id="Redcea8d5753645f6" /><Relationship Type="http://schemas.openxmlformats.org/officeDocument/2006/relationships/notesSlide" Target="/ppt/notesSlides/notesSlide12.xml" Id="R2ebd78e3f94d499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18e70c45144bf" /><Relationship Type="http://schemas.openxmlformats.org/officeDocument/2006/relationships/notesSlide" Target="/ppt/notesSlides/notesSlide13.xml" Id="Re7875b98d2d54f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1f83327314fd5" /><Relationship Type="http://schemas.openxmlformats.org/officeDocument/2006/relationships/image" Target="/ppt/media/image14.png" Id="R2633af278c4a44e0" /><Relationship Type="http://schemas.openxmlformats.org/officeDocument/2006/relationships/notesSlide" Target="/ppt/notesSlides/notesSlide14.xml" Id="Rf276991b79e84d3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8b08df2fb44c2" /><Relationship Type="http://schemas.openxmlformats.org/officeDocument/2006/relationships/notesSlide" Target="/ppt/notesSlides/notesSlide15.xml" Id="Rd73b0d92c40f44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68CD39-6979-47FD-822F-E65A9D73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3F32A-B260-4945-BAA3-B7F6DAE1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51435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视觉检测能力说明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AE80A-5E23-4E22-86D2-B0E5A0A6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24200"/>
            <a:ext cx="4953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测量 · 定位 · 缺陷检测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DCE301-E8FF-4C82-ADA0-10BE948FB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57625"/>
            <a:ext cx="523875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YOLO / 大模型 / 无监督 / 运行参数调优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84E7AF-B628-4BA7-9174-382F3898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24450"/>
            <a:ext cx="457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7B5FCE-3903-487D-9826-B0BD8E42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50482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一套可编排的平台，覆盖从采图、算法判定到结果输出的完整链路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5DB9A2-A78B-4F86-AC4C-FB760D8C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"/>
            <a:ext cx="5619750" cy="563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643EB3-AFED-4753-B2E4-FF89979B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191250"/>
            <a:ext cx="19050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软件当前界面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cfdcd85cc0497e"/>
          <a:stretch xmlns:a="http://schemas.openxmlformats.org/drawingml/2006/main"/>
        </p:blipFill>
        <p:spPr>
          <a:xfrm xmlns:a="http://schemas.openxmlformats.org/drawingml/2006/main">
            <a:off x="5276850" y="4191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359198b66e40c2"/>
          <a:stretch xmlns:a="http://schemas.openxmlformats.org/drawingml/2006/main"/>
        </p:blipFill>
        <p:spPr>
          <a:xfrm xmlns:a="http://schemas.openxmlformats.org/drawingml/2006/main">
            <a:off x="6343650" y="1837739"/>
            <a:ext cx="5314950" cy="28396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151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08EA32-3D9D-435D-8345-FCA9F1D2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0E5D9-4A71-4871-A07D-3E4BF6F0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软件当前覆盖三类核心视觉任务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C02E0-D9DC-4C4B-9128-9BE452B32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D3900F-4190-4E54-A7B4-9BC38D07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23B665-FD1D-474E-A1E8-C6EED1E2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4A0237-CA0B-488A-9CD7-5D994049B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18669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A"/>
          </a:solidFill>
          <a:ln xmlns:a="http://schemas.openxmlformats.org/drawingml/2006/main" w="0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C819C3-5533-4C53-B42F-0FE107F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95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A"/>
          </a:solidFill>
          <a:ln xmlns:a="http://schemas.openxmlformats.org/drawingml/2006/main" w="0">
            <a:solidFill>
              <a:srgbClr val="BCC3C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2B3D2-3AE2-466C-9D80-769BEE30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047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51DC97-8EB7-45BA-8844-43583A7E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FDFFE1-A7B4-4828-80CE-E77CB4D15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6230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把图像中的几何关系转成可判定的数值：距离、角度、直径、椭圆、位置偏差与轮廓特征。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A25074-620B-443E-8DE1-158ACAD69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625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点到点｜点到线｜点到区域｜线到线夹角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B131BB-58FF-4DB7-9EFD-C11B8BC6F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1047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FE9A1-F700-4903-9E14-A5404C1D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955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定位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59C20C-13DE-4E3A-927D-555F21E70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6230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通过模板、边缘、点线圆特征获得目标位置与方向，为后续测量、裁剪或机构引导提供基准。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55541-9965-4C3E-8E47-F34D0443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1625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模板匹配｜找点｜找线｜找圆｜位置修正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36E636-8B55-436B-BCD0-E4AFC228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809750"/>
            <a:ext cx="10477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1160D0-0B3D-41F3-A5D7-22CA15BC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95550"/>
            <a:ext cx="32385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缺陷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581848-13A0-4346-ABCC-5487755B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62300"/>
            <a:ext cx="3238500" cy="1714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针对结构、外观和装配异常，可组合传统视觉、YOLO、无监督和大模型方法进行检测。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2429C-EACA-42C5-A0CF-8EE339D1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5162550"/>
            <a:ext cx="3238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缺料｜异物｜偏位｜破损｜表面异常</a:t>
            </a:r>
          </a:p>
        </p:txBody>
      </p:sp>
    </p:spTree>
    <p:extLst>
      <p:ext uri="{BB962C8B-B14F-4D97-AF65-F5344CB8AC3E}">
        <p14:creationId xmlns:p14="http://schemas.microsoft.com/office/powerpoint/2010/main" val="142717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AED7CD-EB51-4E36-9333-D3E96ECF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7A528C-3AD3-4F61-8BAE-FA6B84A4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检测不是单个算法，而是一条可编排的闭环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D086B-8A39-45A5-9A09-77356028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5B6B24-D64C-4960-8D51-571A99029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CF5AC-D8BB-4129-9923-876AFF24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4F22B-96B3-46B0-87BA-6ADC3E18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B20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06D856-12A6-4290-84EB-CCE9A6F05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38800"/>
            <a:ext cx="1905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真实流程画布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F375CB-D8FF-4EC6-8F9F-2A67C31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1143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采图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3FB0AE-AF7A-485A-9027-9996D34F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145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785791-5BDD-480C-9DB4-41567A2E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33650"/>
            <a:ext cx="1524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预处理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3DBA04-697A-493D-85CF-343A265C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3179C-7876-41A9-AFE4-1471100E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5280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检测 / 测量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3EB8AC-7B62-41E8-AB0A-BB2C242C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528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A862D6-52FB-4F82-9A8E-93D703CA4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71950"/>
            <a:ext cx="2095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上下限判定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F2B99F-2098-42F1-8F5A-F4A735D2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7200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0CD2D-6F35-405C-8F8B-6086C2FF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9110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显示 / 保存 / 通信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255E94-DC2E-4F37-9EB4-327CBE06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619750"/>
            <a:ext cx="3676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F5"/>
          </a:solidFill>
          <a:ln xmlns:a="http://schemas.openxmlformats.org/drawingml/2006/main" w="0">
            <a:solidFill>
              <a:srgbClr val="DDF6F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6E2B2-5574-4377-A2A5-19B4D134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62625"/>
            <a:ext cx="3371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8284"/>
          </a:bodyPr>
          <a:lstStyle xmlns:a="http://schemas.openxmlformats.org/drawingml/2006/main"/>
          <a:p xmlns:a="http://schemas.openxmlformats.org/drawingml/2006/main">
            <a:pPr algn="ctr">
              <a:defRPr sz="12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结果可输出至 PLC、Modbus、TCP、串口或 Excel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66df4e6891422f"/>
          <a:stretch xmlns:a="http://schemas.openxmlformats.org/drawingml/2006/main"/>
        </p:blipFill>
        <p:spPr>
          <a:xfrm xmlns:a="http://schemas.openxmlformats.org/drawingml/2006/main">
            <a:off x="561585" y="1676400"/>
            <a:ext cx="6915930" cy="3695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3997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F179E5-804A-4E19-A5C2-8D5627D9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641BF9-2184-41AA-8F5F-AE560F8D5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测量能力从特征提取延伸到几何关系计算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E02831-81DC-41F5-AFC4-C5EA7C13F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537E5-04CF-48CC-A1C7-E13BACC8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F0536-78F1-4C53-8E95-F9671C55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0978C4-51D5-467D-981C-105E0D30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可提取的基础特征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C60A9-CC4F-4A90-A814-627F602F7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333375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卡尺找线、卡尺找圆、卡尺找椭圆、找点、直线检测、圆检测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73FB71-DAB4-44BF-9A30-CC043F8B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可计算的几何关系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C1188-CCE0-4593-A9E3-E2B94BE3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29050"/>
            <a:ext cx="3048000" cy="1657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点到点距离
点到线距离
点到区域距离
线到线夹角
线组合拟合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D2A289-E25F-4C5E-9C96-B4418D48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619250"/>
            <a:ext cx="3619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4D4AC-70A3-48CA-83B6-23B80E9F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619250"/>
            <a:ext cx="3619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14DAB-059F-418C-8F45-19368F8CC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5054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点到点距离配置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FC5FB0-453C-491B-9DE9-BF64D662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5054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点到线距离配置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252f122904bbf"/>
          <a:stretch xmlns:a="http://schemas.openxmlformats.org/drawingml/2006/main"/>
        </p:blipFill>
        <p:spPr>
          <a:xfrm xmlns:a="http://schemas.openxmlformats.org/drawingml/2006/main">
            <a:off x="4267200" y="2200854"/>
            <a:ext cx="3314700" cy="2551541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ed640e628b4b8e"/>
          <a:stretch xmlns:a="http://schemas.openxmlformats.org/drawingml/2006/main"/>
        </p:blipFill>
        <p:spPr>
          <a:xfrm xmlns:a="http://schemas.openxmlformats.org/drawingml/2006/main">
            <a:off x="8134350" y="2200854"/>
            <a:ext cx="3314700" cy="255154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90565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7AB4E8-0892-41A0-A09E-D2B5F0DB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E0474C-094E-4638-893F-DFC353EE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稳定测量依赖正确的 ROI、边缘与公差定义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09BE5-25E6-4C36-B78D-089B15BB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BE932-7F72-42F6-9BDE-8CAE10787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71530-813D-4CC6-905D-79D42552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7453E-4BC6-4FC1-90C4-1490EC42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723900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512C3-620E-41FB-89D8-1399CED7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53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65F9C8-B3E4-4219-95CF-2AFBD6B3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73355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先锁定区域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43D503-AB94-4E73-8741-4A6753A1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2476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让算法只关注稳定的目标范围，减少背景干扰。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2AC992-F171-4FDE-9E8D-46EAA5DF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53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32170-7902-4CE5-B278-0023BDED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004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再提取边缘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C6ED6-6B0A-4510-9F31-ADC04F37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00450"/>
            <a:ext cx="24765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通过阈值、极性、卡尺或轮廓规则得到可重复的几何特征。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F9F76-F00A-458E-B24B-2A09F703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533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203"/>
          </a:bodyPr>
          <a:lstStyle xmlns:a="http://schemas.openxmlformats.org/drawingml/2006/main"/>
          <a:p xmlns:a="http://schemas.openxmlformats.org/drawingml/2006/main">
            <a:pPr algn="l">
              <a:defRPr sz="34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C0DEE4-CFD9-4570-B171-AED674F2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800600"/>
            <a:ext cx="2381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最后做判定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0E8C4F-FCD6-4EE2-B70A-1235C9CC3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200650"/>
            <a:ext cx="2476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把测量值与运行参数上下限比较，输出 OK / NG。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261e6f132545bb"/>
          <a:stretch xmlns:a="http://schemas.openxmlformats.org/drawingml/2006/main"/>
        </p:blipFill>
        <p:spPr>
          <a:xfrm xmlns:a="http://schemas.openxmlformats.org/drawingml/2006/main">
            <a:off x="1458744" y="1676400"/>
            <a:ext cx="5121613" cy="421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3713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A4033F-AADF-4D04-81C8-FA331F246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F9911D-79FF-415B-A198-1543BAE2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定位先建立基准，再把后续检测放回正确坐标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DC35B0-EDFD-45F4-9F1D-E23DB5D0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13AF89-9E65-4CE9-8167-C9C087CA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FA1D96-4D88-46E7-89D1-DA25350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5FCBB-63D0-451A-A0E7-455B5402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模板匹配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F67E0B-CFE7-436D-9C26-9F8D2F5E3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19300"/>
            <a:ext cx="50482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在旋转、平移或局部变化下寻找目标，输出中心、角度与匹配得分。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D20E0F-D8DA-40BB-B068-8CFC0D5B1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95600"/>
            <a:ext cx="5143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6F8F1C-DACC-4697-B25E-4224E0F8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1905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位置修正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EA45E-E5E3-4265-A10D-82C0862B2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5143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把 X、Y、角度偏差转换为统一参考系，使后续 ROI、测量和缺陷检测跟随工件。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83743E-FE14-4224-8FE4-FB17E37C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51435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4A6463-5F11-43D2-995D-D004A435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寻找目标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793B0-FEC5-4777-B532-CE2D7E6A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772150"/>
            <a:ext cx="47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8AD8B8-E63D-49F4-910D-E5EB1357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8102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计算偏移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3C250D-8362-401A-9241-C8EA9F24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772150"/>
            <a:ext cx="47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11D4AE-D555-4975-8B9F-C1C09F3A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810250"/>
            <a:ext cx="1428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修正坐标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BA8247-5B3A-4660-A98B-B1D5778B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772150"/>
            <a:ext cx="476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DDCF66-C0DA-4A32-91C9-4627EFE3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8102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执行后续检测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5ab4f319645ec"/>
          <a:stretch xmlns:a="http://schemas.openxmlformats.org/drawingml/2006/main"/>
        </p:blipFill>
        <p:spPr>
          <a:xfrm xmlns:a="http://schemas.openxmlformats.org/drawingml/2006/main">
            <a:off x="1291696" y="3048000"/>
            <a:ext cx="3360208" cy="2419350"/>
          </a:xfrm>
          <a:prstGeom xmlns:a="http://schemas.openxmlformats.org/drawingml/2006/main" prst="rect">
            <a:avLst/>
          </a:prstGeom>
        </p:spPr>
      </p:pic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5a54ee9ad4896"/>
          <a:stretch xmlns:a="http://schemas.openxmlformats.org/drawingml/2006/main"/>
        </p:blipFill>
        <p:spPr>
          <a:xfrm xmlns:a="http://schemas.openxmlformats.org/drawingml/2006/main">
            <a:off x="7378407" y="3048000"/>
            <a:ext cx="2769186" cy="2419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09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2AD304-2E4F-472B-949A-5614C7BC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4E1B09-67F8-460E-8999-A43C34CD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缺陷检测可按问题特征选择四条技术路线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0EE52-856D-4F8C-8599-765F7E48E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F47F91-2450-4B7C-8B3B-D560C870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B2F60-3F2B-4F67-A659-529D19D8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E0FCE-CF77-43C2-B5C9-8D48F4F6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路线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B8732D-6237-4C43-B699-8BFCA455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1581150"/>
            <a:ext cx="3143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适合条件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C926D3-973D-4CB4-8F2D-96C151B17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581150"/>
            <a:ext cx="438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典型任务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3BD3D2-93BC-434F-B287-BC6B417C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F5"/>
          </a:solidFill>
          <a:ln xmlns:a="http://schemas.openxmlformats.org/drawingml/2006/main" w="0">
            <a:solidFill>
              <a:srgbClr val="DDF6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509A0-6765-42F9-9E33-1FB22D99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传统视觉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519BA-ED76-4ADD-BFFE-C1122A430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2288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规则清晰、边缘稳定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3D670D-48E9-4049-9C1D-1750B1A3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尺寸超差、缺口、颜色、数量、轮廓异常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F1A17E-9126-446B-B240-86348C76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908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2FA"/>
          </a:solidFill>
          <a:ln xmlns:a="http://schemas.openxmlformats.org/drawingml/2006/main" w="0">
            <a:solidFill>
              <a:srgbClr val="E2F2F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4C9B9-CF9D-40DE-8EFC-80DF032D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YOLO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298239-3DF4-4A66-890D-D47E135D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194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缺陷类别明确且有标注样本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452C3-A8BF-4880-961E-7A2DE335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6230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缺料、异物、破损、装配错误、目标分类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4441F2-7EBB-48FD-8550-03950C6F2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FF"/>
          </a:solidFill>
          <a:ln xmlns:a="http://schemas.openxmlformats.org/drawingml/2006/main" w="0">
            <a:solidFill>
              <a:srgbClr val="F3EC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D27401-CDC6-4195-9369-DD6783FC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无监督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C49E14-A6E0-4CC5-B790-B8B05BD6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2100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异常样本少、正常样本易收集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0D68A-1AB4-4F44-A799-46A45421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5290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表面异常、纹理变化、未知缺陷筛查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3F0597-1906-488B-AAC5-0BB510DB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3919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C"/>
          </a:solidFill>
          <a:ln xmlns:a="http://schemas.openxmlformats.org/drawingml/2006/main" w="0">
            <a:solidFill>
              <a:srgbClr val="FFF1D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252B0B-F15F-4C50-8113-75C5BBEBF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2000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大模型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EC3193-F368-416B-A3B1-1A8C83FF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5200650"/>
            <a:ext cx="3143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外观变化复杂，需要强特征表达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3E0DBD-188E-48D7-B032-8739B89A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43500"/>
            <a:ext cx="4476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复杂纹理、细微外观差异、相似度异常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D098AB-DBA9-4914-9DB7-5816B5001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1505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选择原则：先用稳定规则解决确定问题，再用 AI 覆盖复杂变化。</a:t>
            </a:r>
          </a:p>
        </p:txBody>
      </p:sp>
    </p:spTree>
    <p:extLst>
      <p:ext uri="{BB962C8B-B14F-4D97-AF65-F5344CB8AC3E}">
        <p14:creationId xmlns:p14="http://schemas.microsoft.com/office/powerpoint/2010/main" val="78837781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CC52F8-FDDD-492A-A5EA-F46F79F8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54B4A-4293-48D6-B495-8B91FD00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规则稳定的缺陷，传统视觉往往更直接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9C00EE-AF38-4680-8B58-D2222ED4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A1CC5E-D1BB-4345-8400-D985401E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E1BC3-A0F9-4441-803E-055BB884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10B142-D5CA-4B06-AC56-E3495C00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1714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当前节点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DFDC53-EA85-42CC-995E-EE98B710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24765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直线检测
圆检测
模板匹配
二维码识别
颜色识别
二值化分析
电池极耳检测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12BB45-A2D0-4230-8D45-BF60B06F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482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优势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328B57-2F72-4212-8965-4BD4F1A2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30480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可解释、参数明确、无需训练数据。
适合边界清楚且工况稳定的任务。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C7CDD8-1233-49EE-83B0-1B31ABCA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581150"/>
            <a:ext cx="3733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C22AA-0A1C-4368-9986-A3EC103E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81150"/>
            <a:ext cx="3733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8A1AF-F703-484E-9C6F-AC944722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734050"/>
            <a:ext cx="2286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二值化分析与尺寸判定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B2C55B-912B-4133-921B-89495A76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734050"/>
            <a:ext cx="209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电池极耳专项检测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78edea810e49f1"/>
          <a:stretch xmlns:a="http://schemas.openxmlformats.org/drawingml/2006/main"/>
        </p:blipFill>
        <p:spPr>
          <a:xfrm xmlns:a="http://schemas.openxmlformats.org/drawingml/2006/main">
            <a:off x="3886200" y="2186703"/>
            <a:ext cx="3429000" cy="2789394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058884b7944a8d"/>
          <a:stretch xmlns:a="http://schemas.openxmlformats.org/drawingml/2006/main"/>
        </p:blipFill>
        <p:spPr>
          <a:xfrm xmlns:a="http://schemas.openxmlformats.org/drawingml/2006/main">
            <a:off x="7943850" y="2070372"/>
            <a:ext cx="3429000" cy="30220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612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24E797-8895-4BC9-84E2-23E89685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9A154-E6EC-48CB-AA08-BAD867C5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YOLO 用一次推理完成目标发现、分类与定位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4FFA1E-EC2B-4AE7-9246-62A9648E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7B3C3-A8D3-4289-B0E0-32BA4432D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DBF655-C282-4568-B538-C0A896E83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3448ED-EB8A-4D17-BED5-C9FC622F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171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输入图像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61B900-C734-4966-880D-425CFF40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714500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883987-DD97-46DD-9CA4-433BD382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YOLO 模型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3BF1DA-AF9B-4084-A42E-9FC296D1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714500"/>
            <a:ext cx="4762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9E4D9-1518-4AF2-96FF-C9A0B90B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5260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类别 + 置信度 + 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E73F07-AC8B-4CE0-8145-C0B36FFB7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38400"/>
            <a:ext cx="5143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A29A3-488A-414B-B52D-44317FF2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8400"/>
            <a:ext cx="2286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项目当前支持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F8159B-4C56-44AF-B84A-1B9F6419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718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A"/>
          </a:solidFill>
          <a:ln xmlns:a="http://schemas.openxmlformats.org/drawingml/2006/main" w="0">
            <a:solidFill>
              <a:srgbClr val="BCC3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554A4-2B4E-4476-AAF5-913ADC45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DET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AEFF87-D9A7-492E-80C9-46C76F3A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575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水平框目标检测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7C3549-B3FE-4494-BB42-AD34EFA16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OBB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A7D53-6A36-4FFF-B5FA-8FAD7349E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旋转框目标检测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8FEE75-8602-404F-B4BB-1A63008E4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0055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SEG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39011-7242-46BC-A36D-756A3165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3865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实例分割与轮廓掩膜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D3163-5F3E-42F2-A42D-25146B28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91100"/>
            <a:ext cx="1047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POSE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11CF9-A7C2-40F4-A34F-6F73500B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29200"/>
            <a:ext cx="2857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关键点与姿态估计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EBF867-E53B-495A-B420-D56E7B949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3405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适合：缺陷类别明确、目标形态多变、规则难以完全描述的任务。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9d4bb427f74f34"/>
          <a:stretch xmlns:a="http://schemas.openxmlformats.org/drawingml/2006/main"/>
        </p:blipFill>
        <p:spPr>
          <a:xfrm xmlns:a="http://schemas.openxmlformats.org/drawingml/2006/main">
            <a:off x="1049040" y="2590800"/>
            <a:ext cx="3845519" cy="2552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2557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90F64C-7958-47B2-8FFE-35818191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F1A75C-E0AC-40DA-8473-55F1BF31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YOLO 的效果取决于数据、模型与现场参数共同闭环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ED459-85E8-44E1-AAF1-B90266814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0155D2-6BC7-4C1E-80AB-85614CB1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D5EAA6-7E06-4E6C-AF4E-6CA0D51D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57AA77-8AA6-4E93-9288-FCE06E6D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9527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8FF96B-62DF-467D-9F4B-AC55BDBE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33550"/>
            <a:ext cx="81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96241D-975F-46A7-93A6-089C6608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00300"/>
            <a:ext cx="1885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定义类别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9825E-1DFD-4F58-9E39-64B2B0DF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9527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0EE7F-8649-45C5-B3D4-909950BB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19450"/>
            <a:ext cx="1885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先明确要区分的缺陷、正常目标与判定边界。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82F2F-EE0B-49FB-B011-78E09659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527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B3569E-223E-4A11-A957-2C418F4A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1733550"/>
            <a:ext cx="81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DBE44-664B-4B19-B092-41B96726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400300"/>
            <a:ext cx="1885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采集与标注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6E856-FB0E-4E98-B14F-2180C0CB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29527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886E45-8FEA-4DBC-BE73-E10CEA9A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219450"/>
            <a:ext cx="1885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覆盖角度、光照、批次、正常变化和典型异常。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1CEAE6-394E-42FF-963D-895A5F45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527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C5C899-00E6-4852-9A87-D8D9584C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33550"/>
            <a:ext cx="81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DA825-84B2-48D2-B1C9-0E5C6937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1885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训练验证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D0204A-EF3E-4EF4-85F6-9B988515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527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DFA49A-0770-49E8-ABF7-583BCF47C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19450"/>
            <a:ext cx="1885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检查漏检、误检与类别混淆，不只看单一指标。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26C689-56E9-41C3-BB2B-895B2199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952750"/>
            <a:ext cx="323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20A12B-CA76-4D27-A188-D18EB29E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1733550"/>
            <a:ext cx="81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694DA2-AA29-4E95-8DC2-5249381B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400300"/>
            <a:ext cx="1885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部署推理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009D39-D8C5-42C2-B87F-BE7727C9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29527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83FB6A-6377-4742-A6CD-3A9ADC04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3219450"/>
            <a:ext cx="1885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项目代码支持 CPU/OpenVINO 与 GPU/TensorRT 路线。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8E207D-1C25-4771-A139-50A8F987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733550"/>
            <a:ext cx="8191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>
                <a:solidFill>
                  <a:srgbClr val="00B9B5"/>
                </a:solidFill>
                <a:latin typeface="Microsoft YaHei"/>
                <a:ea typeface="Microsoft YaHei"/>
                <a:cs typeface="Microsoft YaHei"/>
              </a:defRPr>
            </a:pPr>
            <a: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7B714F-1948-407A-B945-6F96F715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400300"/>
            <a:ext cx="1885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现场调参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40DFDF-645D-4CBF-A0B3-05597683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952750"/>
            <a:ext cx="1885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900C9C-7A31-4173-9B70-501E2991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19450"/>
            <a:ext cx="18859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结合置信度、ROI、检测项上下限与工艺标准优化。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66E4C0-8F2C-4249-8C06-26E927D8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67300"/>
            <a:ext cx="113919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F675DC5-3431-4B79-A3D6-6239B572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14950"/>
            <a:ext cx="1428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部署重点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C53AE4-3794-402A-9166-DC113CD0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295900"/>
            <a:ext cx="88582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数据分布要接近现场；阈值要与工艺标准联动；模型升级前后要用同一验证集复核。</a:t>
            </a:r>
          </a:p>
        </p:txBody>
      </p:sp>
    </p:spTree>
    <p:extLst>
      <p:ext uri="{BB962C8B-B14F-4D97-AF65-F5344CB8AC3E}">
        <p14:creationId xmlns:p14="http://schemas.microsoft.com/office/powerpoint/2010/main" val="2210143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F5C66C-4A2C-4AC3-9848-1DD2FBA8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2B773-4372-4DA9-B06C-6989E18B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无监督检测先学习“正常”，再寻找偏离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B5727F-94DF-4586-8408-0E8AD9247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CAEA7-BA36-4319-9219-5142B2263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A705E-65E9-42AB-870D-D628CFA8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08E067-D68C-4E57-8B29-09ECABF2A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4762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801FAB-CE6E-4607-8E9F-0FD46FB8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95450"/>
            <a:ext cx="1428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正常样本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EC1D0-10C6-4B92-94BF-B947B543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6764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1E1AD-882E-45A4-B58D-7A3E0DA84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95450"/>
            <a:ext cx="2000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学习正常特征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1725D-8885-464F-8862-E410B9CDE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17170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88F62-0F97-441F-BBC5-99EA2F6E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47950"/>
            <a:ext cx="3619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待测图像与正常特征比较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BC7ECC-0DD1-4F02-B487-F2297DCB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419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D00F20-7B07-4EF1-BE69-50887D25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38550"/>
            <a:ext cx="29527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异常分数 + 异常区域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01FE2-368F-4408-833D-348C43E09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05300"/>
            <a:ext cx="5143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A"/>
          </a:solidFill>
          <a:ln xmlns:a="http://schemas.openxmlformats.org/drawingml/2006/main" w="0">
            <a:solidFill>
              <a:srgbClr val="BCC3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D7476B-0002-4E2C-B4DC-4CCF1F55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33900"/>
            <a:ext cx="95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适合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B00A30-768C-45EE-B9F4-6AF332DF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533900"/>
            <a:ext cx="42100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异常样本少、缺陷类型未知、表面纹理或外观变化难以枚举。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C5794-3C02-47B2-AB72-5027F2CA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76850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项目参数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E7DC4F-92E6-43B4-8715-7DAD7433D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276850"/>
            <a:ext cx="4000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ROI、阈值、最小缺陷面积、最大异常框数量与模板文件。</a:t>
            </a:r>
          </a:p>
        </p:txBody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3a287aea3a49d4"/>
          <a:stretch xmlns:a="http://schemas.openxmlformats.org/drawingml/2006/main"/>
        </p:blipFill>
        <p:spPr>
          <a:xfrm xmlns:a="http://schemas.openxmlformats.org/drawingml/2006/main">
            <a:off x="552450" y="2098668"/>
            <a:ext cx="4457700" cy="296546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91650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C6CF11-C20C-4D90-85C0-15CAF87D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AF810-D60D-4B67-828F-472B4494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大模型以更强的视觉特征表达识别复杂外观差异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664034-193C-4F01-B952-5DE7A141D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6CA64-73BE-4316-8BAC-BC54E2476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15BD99-A79D-4B5D-918D-5E6AB096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8A36D2-1C42-4637-9EE5-7E2640C5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858000" cy="421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2428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4C546-6D89-4797-9C43-8BBDCD0A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57350"/>
            <a:ext cx="2857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项目当前实现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CCA648-1A35-497B-9C7B-0A022A71B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14550"/>
            <a:ext cx="3429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908"/>
          </a:bodyPr>
          <a:lstStyle xmlns:a="http://schemas.openxmlformats.org/drawingml/2006/main"/>
          <a:p xmlns:a="http://schemas.openxmlformats.org/drawingml/2006/main">
            <a:pPr algn="l">
              <a:defRPr sz="22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DINOv2 特征 + Memory Bank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1DC89-E6BA-446C-BFEF-86C4746A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781300"/>
            <a:ext cx="36195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用正常样本构建特征库；推理时计算待测区域与正常特征的差异，输出异常分数和区域。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82E28E-D82F-4CFF-AAFA-7A6A1C44E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10050"/>
            <a:ext cx="361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3CA"/>
          </a:solidFill>
          <a:ln xmlns:a="http://schemas.openxmlformats.org/drawingml/2006/main" w="0">
            <a:solidFill>
              <a:srgbClr val="BCC3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DA189-4A48-44A9-86E3-C9CCF55CB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38650"/>
            <a:ext cx="1524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为什么使用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321397-DBC4-47C1-8A2F-FA91C214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7750"/>
            <a:ext cx="36195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对复杂纹理、细微外观变化和跨区域特征更有表达力。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FCC1D9-38E6-4357-8254-5C595E0DC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00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工程边界：最终效果仍取决于样本覆盖、ROI、阈值、光学条件与现场验证。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ea8d5753645f6"/>
          <a:stretch xmlns:a="http://schemas.openxmlformats.org/drawingml/2006/main"/>
        </p:blipFill>
        <p:spPr>
          <a:xfrm xmlns:a="http://schemas.openxmlformats.org/drawingml/2006/main">
            <a:off x="552450" y="1922242"/>
            <a:ext cx="6553200" cy="35278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43415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59E84B-9852-426A-836F-2D25B87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33951C-B807-4DA0-9912-AD648193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算法选型要看规则稳定性、样本与缺陷可定义程度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91AB3-3E4E-4FC0-BFAC-C9DF6233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B789E6-AC67-4A41-8A28-581EA1C0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66C45F-030E-4E7E-9435-989B95C6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D2B4DD-26D2-4A59-98F2-ED674F48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21526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0EF70-866D-4262-BBCC-13CCFA59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90700"/>
            <a:ext cx="19240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方法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4CAF1-BAEB-4BBA-948F-C7D4FB23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619250"/>
            <a:ext cx="20574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B1A248-B14B-47DB-AC31-31DFE323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90700"/>
            <a:ext cx="1828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是否需要标注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792A53-CF3A-4710-A3BA-3E40DCEBA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619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704F1-BE9F-46BC-B5A6-2A9BBFAF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790700"/>
            <a:ext cx="186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擅长问题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38EA7-9BD7-4EDE-A612-250FB0F3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19250"/>
            <a:ext cx="2095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FF678-72D5-4798-817C-4238C971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90700"/>
            <a:ext cx="1866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主要优势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225784-9B6D-4E9E-A0B5-871CA5459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619250"/>
            <a:ext cx="2990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27C23-CF04-4BFE-BC59-760185EB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90700"/>
            <a:ext cx="2762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优先关注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174C1-DB19-4CC6-9D8A-0B85CF52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BBEA3-C060-4D5E-9545-FF3B3CB7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24100"/>
            <a:ext cx="1924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传统视觉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5ECEB2-C607-4B45-BFF6-C8797DC1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71700"/>
            <a:ext cx="2057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803AC-F943-4BC1-80DC-F70CA4EAB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324100"/>
            <a:ext cx="182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不需要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A6DB32-E43C-40F4-8CCB-1FCBBC01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717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57BD62-4FCB-4DE4-835F-EBC1509E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3241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规则清晰的几何与颜色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AE08B-8899-4AED-A33E-FE71CD05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5A4A36-D7FD-430D-97CD-9209BB84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241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可解释、参数直接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3757C3-904E-4814-BC58-F03DD620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717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7D75F4-6DE7-4DC0-A7C8-0836B17F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241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光照、边缘、ROI 稳定性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3631D4-29CE-4967-B4AD-DA6F70CB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099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FECFE3-4E18-4F3A-A010-40DAE23D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1924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YOLO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75EBE3-5A6A-4470-A6CB-872E6125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009900"/>
            <a:ext cx="2057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D9E257-E22C-435C-A6A5-725584424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62300"/>
            <a:ext cx="182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需要类别/框/掩膜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43E78A-D50A-4FA8-B5B1-534C5D47F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99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EC17528-60B4-4594-A076-E0A62D9E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623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已知类别与多目标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AA71DA-5E7E-4838-BF7F-90BAF5F3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99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211A34-9D60-4C21-9269-AF45F2EE6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泛化形态变化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210496-17D5-4FC8-8232-90E13ED16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099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84AE40-4866-4FE7-877F-440D113E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样本覆盖、漏检与误检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FF3DFC-3C60-49BC-88F0-816D859F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481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4850BB-8975-4220-9FA1-03895CDF0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924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无监督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29DFCDA-0101-43BC-A635-EF0C9675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848100"/>
            <a:ext cx="2057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5BA1BE-DCE4-46A1-81A2-CA1AEDCCA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00500"/>
            <a:ext cx="182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以正常样本为主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6A6E2F-C6E6-46B4-8B29-09080D54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481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D98DA6-3B47-4D4E-A609-90476D58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005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未知异常与表面缺陷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54BD49-82E3-4C52-B939-143B4AFB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481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A60AB8-C0EF-49A5-9A19-FB45617C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005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异常样本需求低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E3AEE1C-97A0-4570-8C35-DFC433E12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8481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7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6277FB-5C57-4E5F-9F7C-350906CA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005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正常变化、阈值与面积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7074B9-87D4-466B-B613-85EA5E50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86300"/>
            <a:ext cx="2152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2E1B3C-12C9-41EE-B91E-572FF282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19240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大模型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DF56905-38DD-4EBD-9E41-D6E96CE01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686300"/>
            <a:ext cx="20574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DB08F7B-050D-405E-890A-BC14ABC8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1828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以正常样本为主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1840EE-D003-4194-924A-8CCC5E6B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6863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91EF1C-FC78-479C-95D0-7A69DB0EB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8387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复杂纹理与细微差异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CB1D24-9163-42E5-988C-A1A63571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686300"/>
            <a:ext cx="2095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E92157F-A3E4-4131-9E4C-1BCE1C1E3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838700"/>
            <a:ext cx="18669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视觉特征表达强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F370599-3982-4187-A5C9-818B8840A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686300"/>
            <a:ext cx="29908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FF1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9FD2524-30F2-4840-A037-D738DF11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838700"/>
            <a:ext cx="2762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特征库、资源与现场验证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012F489-CFFE-4EBF-8BDE-838EDE497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9525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工程建议：同一流程可以混合使用多种方法，让各自解决最擅长的问题。</a:t>
            </a:r>
          </a:p>
        </p:txBody>
      </p:sp>
    </p:spTree>
    <p:extLst>
      <p:ext uri="{BB962C8B-B14F-4D97-AF65-F5344CB8AC3E}">
        <p14:creationId xmlns:p14="http://schemas.microsoft.com/office/powerpoint/2010/main" val="15610495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C6F33C4-77FB-45F7-B3A6-7B35D9C56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4000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 · 检测能力说明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C1528-8403-4E86-A636-CF1DAF0F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"/>
            <a:ext cx="109537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运行参数上下限把算法结果转换成现场判定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B059C-1CDA-49BE-830D-3ED3B160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656031-0820-4C47-BCDE-141A2712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00800"/>
            <a:ext cx="4953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内容依据：当前项目代码、工具树与真实界面截图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FDF8BA-9BD9-4DC9-B4A8-77C25767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364E00-0153-4DD1-B9F6-63289B6F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81150"/>
            <a:ext cx="68580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BCC3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E575E-48D9-4851-9D3C-D5E4901CF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75260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下限值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7EE137-34AE-4ED7-AC9B-CA328305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3524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允许范围的起点；测量值低于下限时可判为 NG。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8046D-AC4D-4C36-802C-71363BF6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08610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当前值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9D0FB4-5088-4564-BFF4-A058DA3C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24250"/>
            <a:ext cx="3524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来自本次运行的实际检测结果，用于现场对照和调参。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A054F-3618-4EB1-8AAD-FE15BDC2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19600"/>
            <a:ext cx="12382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上限值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C58063-6225-414E-9AA7-600C967B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857750"/>
            <a:ext cx="352425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允许范围的终点；测量值高于上限时可判为 NG。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7F399-6448-4225-AB7E-9EEE81B2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435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0">
            <a:solidFill>
              <a:srgbClr val="F1F3F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E33337-07AE-4D3C-A1DB-79A6A452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15000"/>
            <a:ext cx="1238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建议顺序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13C3DD-460E-494C-AF17-6D08F85D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95950"/>
            <a:ext cx="9239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先采集稳定样本 → 查看当前值分布 → 按工艺标准设置上下限 → 保存并用 OK/NG 样本复核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3af278c4a44e0"/>
          <a:stretch xmlns:a="http://schemas.openxmlformats.org/drawingml/2006/main"/>
        </p:blipFill>
        <p:spPr>
          <a:xfrm xmlns:a="http://schemas.openxmlformats.org/drawingml/2006/main">
            <a:off x="954822" y="1733550"/>
            <a:ext cx="5748457" cy="3352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013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4A4CB7-8033-40CD-8E41-C9F7E36B0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2381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TDJS-VISION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CA29A9-D33A-4F5E-8054-C64800A2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10953750" cy="144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用同一套流程平台，
组合最合适的检测方法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28DB38-D1BD-4723-A428-67AA96B8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4325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318"/>
          </a:solidFill>
          <a:ln xmlns:a="http://schemas.openxmlformats.org/drawingml/2006/main" w="0">
            <a:solidFill>
              <a:srgbClr val="10131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ABB4F5-03FC-4793-9A0F-2DA8F020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385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测量与定位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1A2409-0505-40A1-8C42-2B846972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52900"/>
            <a:ext cx="30480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先建立稳定基准，让几何结果可重复。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361835-C23E-4C58-ABE7-AEEA641F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缺陷检测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07A806-7DB4-4025-9C51-AD0C1C7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52900"/>
            <a:ext cx="314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按规则、YOLO、无监督或大模型选择路线。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242E4-32DF-4A55-AD64-97AAC955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38550"/>
            <a:ext cx="2667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>
                <a:solidFill>
                  <a:srgbClr val="008DCC"/>
                </a:solidFill>
                <a:latin typeface="Microsoft YaHei"/>
                <a:ea typeface="Microsoft YaHei"/>
                <a:cs typeface="Microsoft YaHei"/>
              </a:defRPr>
            </a:pPr>
            <a:r>
              <a:t>现场判定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BCAEAA-57EF-49BB-AF8F-B2F14A2C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52900"/>
            <a:ext cx="31432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用运行参数上下限把结果连接到工艺标准。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D2D191-1BA5-4568-AE04-B8AA726BD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6F5"/>
          </a:solidFill>
          <a:ln xmlns:a="http://schemas.openxmlformats.org/drawingml/2006/main" w="0">
            <a:solidFill>
              <a:srgbClr val="DDF6F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63EAA7-BF37-44BF-936A-446E25F5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763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101318"/>
                </a:solidFill>
                <a:latin typeface="Microsoft YaHei"/>
                <a:ea typeface="Microsoft YaHei"/>
                <a:cs typeface="Microsoft YaHei"/>
              </a:defRPr>
            </a:pPr>
            <a:r>
              <a:t>推荐落地路径：稳定成像 → 建立基准 → 选择算法 → 设置上下限 → 用真实样本闭环验证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795D6-025E-4B66-94ED-DD6DF873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6362700"/>
            <a:ext cx="609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>
                <a:solidFill>
                  <a:srgbClr val="59616B"/>
                </a:solidFill>
                <a:latin typeface="Microsoft YaHei"/>
                <a:ea typeface="Microsoft YaHei"/>
                <a:cs typeface="Microsoft YaHei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228897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2026-07-14T07:10:38.3680000Z</dcterms:created>
  <dcterms:modified xsi:type="dcterms:W3CDTF">2026-07-14T07:10:38.3680000Z</dcterms:modified>
</coreProperties>
</file>